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15:guide id="1" orient="horz" pos="6496" userDrawn="1">
          <p15:clr>
            <a:srgbClr val="A4A3A4"/>
          </p15:clr>
        </p15:guide>
        <p15:guide id="2" pos="71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DCA7"/>
    <a:srgbClr val="E0E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6273" autoAdjust="0"/>
    <p:restoredTop sz="94574"/>
  </p:normalViewPr>
  <p:slideViewPr>
    <p:cSldViewPr snapToGrid="0" snapToObjects="1">
      <p:cViewPr>
        <p:scale>
          <a:sx n="80" d="100"/>
          <a:sy n="80" d="100"/>
        </p:scale>
        <p:origin x="1986" y="-774"/>
      </p:cViewPr>
      <p:guideLst>
        <p:guide orient="horz" pos="6496"/>
        <p:guide pos="71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7.png"/><Relationship Id="rId2" Type="http://schemas.openxmlformats.org/officeDocument/2006/relationships/notesSlide" Target="../notesSlides/notesSlide1.xml"/><Relationship Id="rId16"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6.png"/><Relationship Id="rId5" Type="http://schemas.openxmlformats.org/officeDocument/2006/relationships/image" Target="../media/image3.png"/><Relationship Id="rId15" Type="http://schemas.openxmlformats.org/officeDocument/2006/relationships/image" Target="../media/image10.svg"/><Relationship Id="rId10" Type="http://schemas.openxmlformats.org/officeDocument/2006/relationships/hyperlink" Target="mailto:user@example.com" TargetMode="External"/><Relationship Id="rId4" Type="http://schemas.openxmlformats.org/officeDocument/2006/relationships/hyperlink" Target="http://fortawesome.github.io/Font-Awesome/get-started/" TargetMode="External"/><Relationship Id="rId9" Type="http://schemas.openxmlformats.org/officeDocument/2006/relationships/hyperlink" Target="https://example.com/" TargetMode="External"/><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1" name="Rectangle 1380">
            <a:extLst>
              <a:ext uri="{FF2B5EF4-FFF2-40B4-BE49-F238E27FC236}">
                <a16:creationId xmlns:a16="http://schemas.microsoft.com/office/drawing/2014/main" id="{B52A2C68-A158-11E2-6FA4-BA23C9190516}"/>
              </a:ext>
            </a:extLst>
          </p:cNvPr>
          <p:cNvSpPr/>
          <p:nvPr/>
        </p:nvSpPr>
        <p:spPr>
          <a:xfrm>
            <a:off x="9691110" y="6289116"/>
            <a:ext cx="1342868" cy="585584"/>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77" name="Rectangle 1376">
            <a:extLst>
              <a:ext uri="{FF2B5EF4-FFF2-40B4-BE49-F238E27FC236}">
                <a16:creationId xmlns:a16="http://schemas.microsoft.com/office/drawing/2014/main" id="{32F64695-D6F6-C91B-9BAC-C0EE81DA7F01}"/>
              </a:ext>
            </a:extLst>
          </p:cNvPr>
          <p:cNvSpPr/>
          <p:nvPr/>
        </p:nvSpPr>
        <p:spPr>
          <a:xfrm>
            <a:off x="9690571" y="4651061"/>
            <a:ext cx="1342868" cy="585584"/>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70" name="Rectangle 1369">
            <a:extLst>
              <a:ext uri="{FF2B5EF4-FFF2-40B4-BE49-F238E27FC236}">
                <a16:creationId xmlns:a16="http://schemas.microsoft.com/office/drawing/2014/main" id="{E31F93FC-21E1-0F9F-A931-6ADFFDD88131}"/>
              </a:ext>
            </a:extLst>
          </p:cNvPr>
          <p:cNvSpPr/>
          <p:nvPr/>
        </p:nvSpPr>
        <p:spPr>
          <a:xfrm>
            <a:off x="4666775" y="6904504"/>
            <a:ext cx="3000850" cy="1521469"/>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87" name="Rectangle 1286">
            <a:extLst>
              <a:ext uri="{FF2B5EF4-FFF2-40B4-BE49-F238E27FC236}">
                <a16:creationId xmlns:a16="http://schemas.microsoft.com/office/drawing/2014/main" id="{6DBC6260-7EB1-FCD4-C231-520040DC39DC}"/>
              </a:ext>
            </a:extLst>
          </p:cNvPr>
          <p:cNvSpPr/>
          <p:nvPr/>
        </p:nvSpPr>
        <p:spPr>
          <a:xfrm>
            <a:off x="4710257" y="2813843"/>
            <a:ext cx="4438400" cy="2296618"/>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222" name="Rectangle 1221">
            <a:extLst>
              <a:ext uri="{FF2B5EF4-FFF2-40B4-BE49-F238E27FC236}">
                <a16:creationId xmlns:a16="http://schemas.microsoft.com/office/drawing/2014/main" id="{67CC1CA6-0C16-862D-B917-6807995CC27C}"/>
              </a:ext>
            </a:extLst>
          </p:cNvPr>
          <p:cNvSpPr/>
          <p:nvPr/>
        </p:nvSpPr>
        <p:spPr>
          <a:xfrm>
            <a:off x="5346301" y="3331729"/>
            <a:ext cx="1981854" cy="44151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bg2">
                  <a:lumMod val="10000"/>
                </a:schemeClr>
              </a:solidFill>
            </a:endParaRPr>
          </a:p>
        </p:txBody>
      </p:sp>
      <p:sp>
        <p:nvSpPr>
          <p:cNvPr id="1174" name="Rectangle 1173">
            <a:extLst>
              <a:ext uri="{FF2B5EF4-FFF2-40B4-BE49-F238E27FC236}">
                <a16:creationId xmlns:a16="http://schemas.microsoft.com/office/drawing/2014/main" id="{633D06DA-A052-76CD-3054-02EC608AC824}"/>
              </a:ext>
            </a:extLst>
          </p:cNvPr>
          <p:cNvSpPr/>
          <p:nvPr/>
        </p:nvSpPr>
        <p:spPr>
          <a:xfrm>
            <a:off x="4663440" y="8561291"/>
            <a:ext cx="3475631" cy="1577608"/>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92" name="Image" descr="Image"/>
          <p:cNvPicPr>
            <a:picLocks noChangeAspect="1"/>
          </p:cNvPicPr>
          <p:nvPr/>
        </p:nvPicPr>
        <p:blipFill>
          <a:blip r:embed="rId3"/>
          <a:stretch>
            <a:fillRect/>
          </a:stretch>
        </p:blipFill>
        <p:spPr>
          <a:xfrm>
            <a:off x="8382051" y="-676677"/>
            <a:ext cx="5598432"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314" name="Group"/>
          <p:cNvSpPr/>
          <p:nvPr/>
        </p:nvSpPr>
        <p:spPr>
          <a:xfrm>
            <a:off x="219190" y="3021695"/>
            <a:ext cx="4346831" cy="5383822"/>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9" name="Basics"/>
          <p:cNvSpPr txBox="1"/>
          <p:nvPr/>
        </p:nvSpPr>
        <p:spPr>
          <a:xfrm>
            <a:off x="312145" y="3175625"/>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Project Config Setup</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23" name="Thank you for making a new cheatsheet for R! These cheatsheets have an important job:"/>
          <p:cNvSpPr txBox="1"/>
          <p:nvPr/>
        </p:nvSpPr>
        <p:spPr>
          <a:xfrm>
            <a:off x="301285" y="3671161"/>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a:lnSpc>
                <a:spcPct val="90000"/>
              </a:lnSpc>
              <a:spcBef>
                <a:spcPts val="0"/>
              </a:spcBef>
              <a:buClr>
                <a:schemeClr val="accent4">
                  <a:hueOff val="384618"/>
                  <a:satOff val="3869"/>
                  <a:lumOff val="5802"/>
                </a:schemeClr>
              </a:buClr>
              <a:defRPr b="0">
                <a:solidFill>
                  <a:srgbClr val="000000"/>
                </a:solidFill>
              </a:defRPr>
            </a:pPr>
            <a:r>
              <a:rPr lang="en-US" b="1" dirty="0">
                <a:latin typeface="Source Sans Pro" panose="020B0503030403020204" pitchFamily="34" charset="0"/>
                <a:ea typeface="Source Sans Pro" panose="020B0503030403020204" pitchFamily="34" charset="0"/>
                <a:cs typeface="Arial" panose="020B0604020202020204" pitchFamily="34" charset="0"/>
              </a:rPr>
              <a:t>The first part of running any vignette is setting up your project configuration file (examples in conf/</a:t>
            </a:r>
            <a:r>
              <a:rPr lang="en-US" b="1" dirty="0" err="1">
                <a:latin typeface="Source Sans Pro" panose="020B0503030403020204" pitchFamily="34" charset="0"/>
                <a:ea typeface="Source Sans Pro" panose="020B0503030403020204" pitchFamily="34" charset="0"/>
                <a:cs typeface="Arial" panose="020B0604020202020204" pitchFamily="34" charset="0"/>
              </a:rPr>
              <a:t>kaiaulu</a:t>
            </a:r>
            <a:r>
              <a:rPr lang="en-US" b="1" dirty="0">
                <a:latin typeface="Source Sans Pro" panose="020B0503030403020204" pitchFamily="34" charset="0"/>
                <a:ea typeface="Source Sans Pro" panose="020B0503030403020204" pitchFamily="34" charset="0"/>
                <a:cs typeface="Arial" panose="020B0604020202020204" pitchFamily="34" charset="0"/>
              </a:rPr>
              <a:t>).</a:t>
            </a:r>
            <a:r>
              <a:rPr dirty="0">
                <a:latin typeface="Source Sans Pro" panose="020B0503030403020204" pitchFamily="34" charset="0"/>
                <a:ea typeface="Source Sans Pro" panose="020B0503030403020204" pitchFamily="34" charset="0"/>
                <a:cs typeface="Arial" panose="020B0604020202020204" pitchFamily="34" charset="0"/>
              </a:rPr>
              <a:t> </a:t>
            </a:r>
          </a:p>
        </p:txBody>
      </p:sp>
      <p:sp>
        <p:nvSpPr>
          <p:cNvPr id="324" name="Cheatsheets make it easy for R users…"/>
          <p:cNvSpPr txBox="1"/>
          <p:nvPr/>
        </p:nvSpPr>
        <p:spPr>
          <a:xfrm>
            <a:off x="329262" y="4164915"/>
            <a:ext cx="4078707" cy="4116806"/>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sz="1400" dirty="0">
                <a:latin typeface="Source Sans Pro" panose="020B0503030403020204" pitchFamily="34" charset="0"/>
                <a:ea typeface="Source Sans Pro" panose="020B0503030403020204" pitchFamily="34" charset="0"/>
                <a:cs typeface="Arial" panose="020B0604020202020204" pitchFamily="34" charset="0"/>
              </a:rPr>
              <a:t>Required Fields</a:t>
            </a:r>
          </a:p>
          <a:p>
            <a:pPr algn="ctr">
              <a:lnSpc>
                <a:spcPct val="90000"/>
              </a:lnSpc>
              <a:spcBef>
                <a:spcPts val="0"/>
              </a:spcBef>
              <a:defRPr>
                <a:solidFill>
                  <a:srgbClr val="000000"/>
                </a:solidFill>
              </a:defRPr>
            </a:pPr>
            <a:endParaRPr lang="en-US" sz="1400" dirty="0">
              <a:latin typeface="Source Sans Pro" panose="020B0503030403020204" pitchFamily="34" charset="0"/>
              <a:ea typeface="Source Sans Pro" panose="020B0503030403020204" pitchFamily="34" charset="0"/>
              <a:cs typeface="Arial" panose="020B0604020202020204" pitchFamily="34" charset="0"/>
            </a:endParaRPr>
          </a:p>
          <a:p>
            <a:pPr marL="171450" indent="-171450">
              <a:lnSpc>
                <a:spcPct val="90000"/>
              </a:lnSpc>
              <a:spcBef>
                <a:spcPts val="0"/>
              </a:spcBef>
              <a:buFont typeface="Arial" panose="020B0604020202020204" pitchFamily="34" charset="0"/>
              <a:buChar char="•"/>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filter:</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replies:</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filter_by_reply_author_substring</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filter_by_reply_subject_substring</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filter_by_reply_body_substring</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regex_to_replace_key_with</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marL="171450" indent="-171450">
              <a:lnSpc>
                <a:spcPct val="90000"/>
              </a:lnSpc>
              <a:spcBef>
                <a:spcPts val="0"/>
              </a:spcBef>
              <a:buFont typeface="Arial" panose="020B0604020202020204" pitchFamily="34" charset="0"/>
              <a:buChar char="•"/>
              <a:defRPr>
                <a:solidFill>
                  <a:srgbClr val="000000"/>
                </a:solidFill>
              </a:defRPr>
            </a:pPr>
            <a:r>
              <a:rPr lang="en-US" dirty="0" err="1">
                <a:latin typeface="Source Sans Pro" panose="020B0503030403020204" pitchFamily="34" charset="0"/>
                <a:ea typeface="Source Sans Pro" panose="020B0503030403020204" pitchFamily="34" charset="0"/>
                <a:cs typeface="Arial" panose="020B0604020202020204" pitchFamily="34" charset="0"/>
              </a:rPr>
              <a:t>mailing_list</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mod_mbox</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project_key_1:</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pipermail</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project_key_1:</a:t>
            </a:r>
          </a:p>
          <a:p>
            <a:pPr marL="171450" lvl="3" indent="-171450">
              <a:lnSpc>
                <a:spcPct val="90000"/>
              </a:lnSpc>
              <a:spcBef>
                <a:spcPts val="0"/>
              </a:spcBef>
              <a:buFont typeface="Arial" panose="020B0604020202020204" pitchFamily="34" charset="0"/>
              <a:buChar char="•"/>
              <a:defRPr>
                <a:solidFill>
                  <a:srgbClr val="000000"/>
                </a:solidFill>
              </a:defRPr>
            </a:pPr>
            <a:r>
              <a:rPr lang="en-US" dirty="0" err="1">
                <a:latin typeface="Source Sans Pro" panose="020B0503030403020204" pitchFamily="34" charset="0"/>
                <a:ea typeface="Source Sans Pro" panose="020B0503030403020204" pitchFamily="34" charset="0"/>
                <a:cs typeface="Arial" panose="020B0604020202020204" pitchFamily="34" charset="0"/>
              </a:rPr>
              <a:t>issue_tracker</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jira</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project_key_1:</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issue_comments</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github</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project_key_1:</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a:t>
            </a:r>
            <a:r>
              <a:rPr lang="en-US" dirty="0" err="1">
                <a:latin typeface="Source Sans Pro" panose="020B0503030403020204" pitchFamily="34" charset="0"/>
                <a:ea typeface="Source Sans Pro" panose="020B0503030403020204" pitchFamily="34" charset="0"/>
                <a:cs typeface="Arial" panose="020B0604020202020204" pitchFamily="34" charset="0"/>
              </a:rPr>
              <a:t>issue_or_pr_comment</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marL="171450" lvl="3" indent="-171450">
              <a:lnSpc>
                <a:spcPct val="90000"/>
              </a:lnSpc>
              <a:spcBef>
                <a:spcPts val="0"/>
              </a:spcBef>
              <a:buFont typeface="Arial" panose="020B0604020202020204" pitchFamily="34" charset="0"/>
              <a:buChar char="•"/>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tool:</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sentiment:</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model:</a:t>
            </a:r>
          </a:p>
          <a:p>
            <a:pPr lvl="3" indent="0">
              <a:lnSpc>
                <a:spcPct val="90000"/>
              </a:lnSpc>
              <a:spcBef>
                <a:spcPts val="0"/>
              </a:spcBef>
              <a:defRPr>
                <a:solidFill>
                  <a:srgbClr val="000000"/>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                    prediction:</a:t>
            </a:r>
          </a:p>
          <a:p>
            <a:pPr marL="171450" indent="-171450">
              <a:lnSpc>
                <a:spcPct val="90000"/>
              </a:lnSpc>
              <a:spcBef>
                <a:spcPts val="0"/>
              </a:spcBef>
              <a:buFont typeface="Arial" panose="020B0604020202020204" pitchFamily="34" charset="0"/>
              <a:buChar char="•"/>
              <a:defRPr>
                <a:solidFill>
                  <a:srgbClr val="000000"/>
                </a:solidFill>
              </a:defRPr>
            </a:pPr>
            <a:endParaRPr lang="en-US" dirty="0">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26" name="Manipulate Variables"/>
          <p:cNvSpPr txBox="1"/>
          <p:nvPr/>
        </p:nvSpPr>
        <p:spPr>
          <a:xfrm>
            <a:off x="9592056" y="1537907"/>
            <a:ext cx="237084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Vignettes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30" name="Line"/>
          <p:cNvSpPr/>
          <p:nvPr/>
        </p:nvSpPr>
        <p:spPr>
          <a:xfrm>
            <a:off x="329263" y="3031835"/>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dirty="0"/>
              <a:t>Sentiment Analysis</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p:cNvSpPr txBox="1"/>
          <p:nvPr/>
        </p:nvSpPr>
        <p:spPr>
          <a:xfrm>
            <a:off x="219190" y="1892216"/>
            <a:ext cx="3949153" cy="1107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lvl="0">
              <a:lnSpc>
                <a:spcPct val="90000"/>
              </a:lnSpc>
              <a:buSzPts val="3700"/>
            </a:pPr>
            <a:r>
              <a:rPr lang="en-US" b="0" dirty="0" err="1">
                <a:latin typeface="Source Sans Pro" panose="020B0503030403020204" pitchFamily="34" charset="0"/>
                <a:ea typeface="Source Sans Pro" panose="020B0503030403020204" pitchFamily="34" charset="0"/>
                <a:cs typeface="Arial" panose="020B0604020202020204" pitchFamily="34" charset="0"/>
              </a:rPr>
              <a:t>Kaiaulu</a:t>
            </a:r>
            <a:r>
              <a:rPr lang="en-US" b="0" dirty="0">
                <a:latin typeface="Source Sans Pro" panose="020B0503030403020204" pitchFamily="34" charset="0"/>
                <a:ea typeface="Source Sans Pro" panose="020B0503030403020204" pitchFamily="34" charset="0"/>
                <a:cs typeface="Arial" panose="020B0604020202020204" pitchFamily="34" charset="0"/>
              </a:rPr>
              <a:t> supports the download of comments from JIRA, GitHub, Mailing Lists and more. This Cheat Sheet showcases Sentiment analysis, which classifies an author’s comment as negative, neutral or positive. Sentiment analysis can be used to assess unhealthy communication patterns in a project, potentially affecting its code quality.</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342" name="Create a visual hierarchy. Help users navigate the page with titles, subtitles, and subsubtitles"/>
          <p:cNvSpPr txBox="1"/>
          <p:nvPr/>
        </p:nvSpPr>
        <p:spPr>
          <a:xfrm>
            <a:off x="9549043" y="1920822"/>
            <a:ext cx="4001355"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downloading and parsing relevant communication data.</a:t>
            </a:r>
          </a:p>
        </p:txBody>
      </p:sp>
      <p:sp>
        <p:nvSpPr>
          <p:cNvPr id="382" name="Logistics"/>
          <p:cNvSpPr txBox="1"/>
          <p:nvPr/>
        </p:nvSpPr>
        <p:spPr>
          <a:xfrm>
            <a:off x="4663440" y="1514717"/>
            <a:ext cx="3103414" cy="3377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Comment’s Sentiment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84" name="Layout Suggestions"/>
          <p:cNvSpPr txBox="1"/>
          <p:nvPr/>
        </p:nvSpPr>
        <p:spPr>
          <a:xfrm>
            <a:off x="275721" y="151923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 name="Thank you for making a new cheatsheet for R! These cheatsheets have an important job:">
            <a:extLst>
              <a:ext uri="{FF2B5EF4-FFF2-40B4-BE49-F238E27FC236}">
                <a16:creationId xmlns:a16="http://schemas.microsoft.com/office/drawing/2014/main" id="{C15028FC-57F7-3D04-9093-5A3F5F89C9B4}"/>
              </a:ext>
            </a:extLst>
          </p:cNvPr>
          <p:cNvSpPr txBox="1"/>
          <p:nvPr/>
        </p:nvSpPr>
        <p:spPr>
          <a:xfrm>
            <a:off x="301285" y="8476809"/>
            <a:ext cx="4264736"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a:lnSpc>
                <a:spcPct val="90000"/>
              </a:lnSpc>
              <a:spcBef>
                <a:spcPts val="0"/>
              </a:spcBef>
              <a:buClr>
                <a:schemeClr val="accent4">
                  <a:hueOff val="384618"/>
                  <a:satOff val="3869"/>
                  <a:lumOff val="5802"/>
                </a:schemeClr>
              </a:buClr>
              <a:defRPr b="0">
                <a:solidFill>
                  <a:srgbClr val="000000"/>
                </a:solidFill>
              </a:defRPr>
            </a:pPr>
            <a:endParaRPr dirty="0"/>
          </a:p>
        </p:txBody>
      </p:sp>
      <p:sp>
        <p:nvSpPr>
          <p:cNvPr id="9" name="TextBox 8">
            <a:extLst>
              <a:ext uri="{FF2B5EF4-FFF2-40B4-BE49-F238E27FC236}">
                <a16:creationId xmlns:a16="http://schemas.microsoft.com/office/drawing/2014/main" id="{536099AA-A408-A893-2F05-02D92FC549DE}"/>
              </a:ext>
            </a:extLst>
          </p:cNvPr>
          <p:cNvSpPr txBox="1"/>
          <p:nvPr/>
        </p:nvSpPr>
        <p:spPr>
          <a:xfrm>
            <a:off x="9587882" y="2456028"/>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marR="0" indent="-228600" algn="l" defTabSz="584200" rtl="0" fontAlgn="auto" latinLnBrk="0" hangingPunct="0">
              <a:lnSpc>
                <a:spcPct val="100000"/>
              </a:lnSpc>
              <a:spcBef>
                <a:spcPts val="200"/>
              </a:spcBef>
              <a:spcAft>
                <a:spcPts val="0"/>
              </a:spcAft>
              <a:buClrTx/>
              <a:buSzTx/>
              <a:buFont typeface="+mj-lt"/>
              <a:buAutoNum type="arabicPeriod"/>
              <a:tabLst/>
            </a:pPr>
            <a:r>
              <a:rPr lang="en-US" dirty="0" err="1"/>
              <a:t>download_mail.Rmd</a:t>
            </a:r>
            <a:endParaRPr lang="en-US" dirty="0"/>
          </a:p>
          <a:p>
            <a:pPr marL="228600" marR="0" indent="-228600" algn="l" defTabSz="584200" rtl="0" fontAlgn="auto" latinLnBrk="0" hangingPunct="0">
              <a:lnSpc>
                <a:spcPct val="100000"/>
              </a:lnSpc>
              <a:spcBef>
                <a:spcPts val="200"/>
              </a:spcBef>
              <a:spcAft>
                <a:spcPts val="0"/>
              </a:spcAft>
              <a:buClrTx/>
              <a:buSzTx/>
              <a:buFont typeface="+mj-lt"/>
              <a:buAutoNum type="arabicPeriod"/>
              <a:tabLst/>
            </a:pPr>
            <a:r>
              <a:rPr lang="en-US" dirty="0" err="1"/>
              <a:t>download_jira_issues.Rmd</a:t>
            </a:r>
            <a:endParaRPr lang="en-US" dirty="0"/>
          </a:p>
          <a:p>
            <a:pPr marL="228600" marR="0" indent="-228600" algn="l" defTabSz="584200" rtl="0" fontAlgn="auto" latinLnBrk="0" hangingPunct="0">
              <a:lnSpc>
                <a:spcPct val="100000"/>
              </a:lnSpc>
              <a:spcBef>
                <a:spcPts val="200"/>
              </a:spcBef>
              <a:spcAft>
                <a:spcPts val="0"/>
              </a:spcAft>
              <a:buClrTx/>
              <a:buSzTx/>
              <a:buFont typeface="+mj-lt"/>
              <a:buAutoNum type="arabicPeriod"/>
              <a:tabLst/>
            </a:pPr>
            <a:r>
              <a:rPr lang="en-US" dirty="0" err="1"/>
              <a:t>d</a:t>
            </a:r>
            <a:r>
              <a:rPr kumimoji="0" lang="en-US" b="1" i="0" u="none" strike="noStrike" cap="none" spc="0" normalizeH="0" baseline="0" dirty="0" err="1">
                <a:ln>
                  <a:noFill/>
                </a:ln>
                <a:solidFill>
                  <a:srgbClr val="4C4C4C"/>
                </a:solidFill>
                <a:effectLst/>
                <a:uFillTx/>
                <a:latin typeface="Source Sans Pro"/>
                <a:ea typeface="Source Sans Pro"/>
                <a:cs typeface="Source Sans Pro"/>
                <a:sym typeface="Source Sans Pro"/>
              </a:rPr>
              <a:t>ownload_github_issue_comments.Rmd</a:t>
            </a:r>
            <a:endPar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228600" marR="0" indent="-228600" algn="l" defTabSz="584200" rtl="0" fontAlgn="auto" latinLnBrk="0" hangingPunct="0">
              <a:lnSpc>
                <a:spcPct val="100000"/>
              </a:lnSpc>
              <a:spcBef>
                <a:spcPts val="200"/>
              </a:spcBef>
              <a:spcAft>
                <a:spcPts val="0"/>
              </a:spcAft>
              <a:buClrTx/>
              <a:buSzTx/>
              <a:buFont typeface="+mj-lt"/>
              <a:buAutoNum type="arabicPeriod"/>
              <a:tabLst/>
            </a:pPr>
            <a:r>
              <a:rPr lang="en-US" dirty="0" err="1"/>
              <a:t>download_github_pull_request_comments.Rmd</a:t>
            </a:r>
            <a:endPar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8" name="Line">
            <a:extLst>
              <a:ext uri="{FF2B5EF4-FFF2-40B4-BE49-F238E27FC236}">
                <a16:creationId xmlns:a16="http://schemas.microsoft.com/office/drawing/2014/main" id="{B77B3DC1-6ADA-8592-92EA-892B1D046848}"/>
              </a:ext>
            </a:extLst>
          </p:cNvPr>
          <p:cNvSpPr/>
          <p:nvPr/>
        </p:nvSpPr>
        <p:spPr>
          <a:xfrm flipV="1">
            <a:off x="9590931" y="3471801"/>
            <a:ext cx="3656656" cy="2672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59" name="Line">
            <a:extLst>
              <a:ext uri="{FF2B5EF4-FFF2-40B4-BE49-F238E27FC236}">
                <a16:creationId xmlns:a16="http://schemas.microsoft.com/office/drawing/2014/main" id="{A7AB3ADE-C03A-9F5E-3D7E-0AC63A58BBCC}"/>
              </a:ext>
            </a:extLst>
          </p:cNvPr>
          <p:cNvSpPr/>
          <p:nvPr/>
        </p:nvSpPr>
        <p:spPr>
          <a:xfrm flipH="1" flipV="1">
            <a:off x="9433523" y="1920822"/>
            <a:ext cx="0" cy="1541166"/>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8" name="TextBox 27">
            <a:extLst>
              <a:ext uri="{FF2B5EF4-FFF2-40B4-BE49-F238E27FC236}">
                <a16:creationId xmlns:a16="http://schemas.microsoft.com/office/drawing/2014/main" id="{198E25CE-0FCD-0F14-DE41-E9F889215D13}"/>
              </a:ext>
            </a:extLst>
          </p:cNvPr>
          <p:cNvSpPr txBox="1"/>
          <p:nvPr/>
        </p:nvSpPr>
        <p:spPr>
          <a:xfrm>
            <a:off x="6985001" y="10327008"/>
            <a:ext cx="684345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Gerald Huff, Carlos Paradis, Haotian Zhang •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2025-12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51" name="Use headers, colors, and/or backgrounds to separate or group together sections.">
            <a:extLst>
              <a:ext uri="{FF2B5EF4-FFF2-40B4-BE49-F238E27FC236}">
                <a16:creationId xmlns:a16="http://schemas.microsoft.com/office/drawing/2014/main" id="{424C0353-88CA-0A5E-2753-AF3FA8CF3E01}"/>
              </a:ext>
            </a:extLst>
          </p:cNvPr>
          <p:cNvSpPr txBox="1"/>
          <p:nvPr/>
        </p:nvSpPr>
        <p:spPr>
          <a:xfrm>
            <a:off x="4663440" y="1848247"/>
            <a:ext cx="4562097" cy="94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Comments can occur in different data sources (GitHub, Jira, Mailing list), and also occur under different views within the same data source. Sentiment labels carry different meaning depending on the view (e.g. feature communication, specific code line review). Sentiment can also be extracted either from text or emoji.</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2" name="Group">
            <a:extLst>
              <a:ext uri="{FF2B5EF4-FFF2-40B4-BE49-F238E27FC236}">
                <a16:creationId xmlns:a16="http://schemas.microsoft.com/office/drawing/2014/main" id="{CB5B0FEA-3A08-1722-ADE3-11088156295F}"/>
              </a:ext>
            </a:extLst>
          </p:cNvPr>
          <p:cNvSpPr/>
          <p:nvPr/>
        </p:nvSpPr>
        <p:spPr>
          <a:xfrm>
            <a:off x="213255" y="8771747"/>
            <a:ext cx="4346831" cy="1380517"/>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5" name="Basics">
            <a:extLst>
              <a:ext uri="{FF2B5EF4-FFF2-40B4-BE49-F238E27FC236}">
                <a16:creationId xmlns:a16="http://schemas.microsoft.com/office/drawing/2014/main" id="{C97A28E4-D0B2-E6BC-D0E7-9EDE5211E995}"/>
              </a:ext>
            </a:extLst>
          </p:cNvPr>
          <p:cNvSpPr txBox="1"/>
          <p:nvPr/>
        </p:nvSpPr>
        <p:spPr>
          <a:xfrm>
            <a:off x="329262" y="8874348"/>
            <a:ext cx="2543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Tools Config Setup</a:t>
            </a:r>
            <a:endParaRPr dirty="0"/>
          </a:p>
        </p:txBody>
      </p:sp>
      <p:sp>
        <p:nvSpPr>
          <p:cNvPr id="13" name="Cheatsheets make it easy for R users…">
            <a:extLst>
              <a:ext uri="{FF2B5EF4-FFF2-40B4-BE49-F238E27FC236}">
                <a16:creationId xmlns:a16="http://schemas.microsoft.com/office/drawing/2014/main" id="{8FDE0DD4-B1F9-50C3-603D-87D1CEF5198C}"/>
              </a:ext>
            </a:extLst>
          </p:cNvPr>
          <p:cNvSpPr txBox="1"/>
          <p:nvPr/>
        </p:nvSpPr>
        <p:spPr>
          <a:xfrm>
            <a:off x="329629" y="9212932"/>
            <a:ext cx="4078707" cy="760703"/>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sz="1400" dirty="0">
                <a:latin typeface="Source Sans Pro" panose="020B0503030403020204" pitchFamily="34" charset="0"/>
                <a:ea typeface="Source Sans Pro" panose="020B0503030403020204" pitchFamily="34" charset="0"/>
                <a:cs typeface="Arial" panose="020B0604020202020204" pitchFamily="34" charset="0"/>
              </a:rPr>
              <a:t>Required Fields</a:t>
            </a:r>
          </a:p>
          <a:p>
            <a:pPr marL="171450" indent="-171450">
              <a:lnSpc>
                <a:spcPct val="90000"/>
              </a:lnSpc>
              <a:spcBef>
                <a:spcPts val="0"/>
              </a:spcBef>
              <a:buFont typeface="Arial" panose="020B0604020202020204" pitchFamily="34" charset="0"/>
              <a:buChar char="•"/>
              <a:defRPr>
                <a:solidFill>
                  <a:srgbClr val="000000"/>
                </a:solidFill>
              </a:defRPr>
            </a:pPr>
            <a:r>
              <a:rPr lang="en-US" dirty="0" err="1">
                <a:latin typeface="Source Sans Pro" panose="020B0503030403020204" pitchFamily="34" charset="0"/>
                <a:ea typeface="Source Sans Pro" panose="020B0503030403020204" pitchFamily="34" charset="0"/>
                <a:cs typeface="Arial" panose="020B0604020202020204" pitchFamily="34" charset="0"/>
              </a:rPr>
              <a:t>perceval</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marL="171450" indent="-171450">
              <a:lnSpc>
                <a:spcPct val="90000"/>
              </a:lnSpc>
              <a:spcBef>
                <a:spcPts val="0"/>
              </a:spcBef>
              <a:buFont typeface="Arial" panose="020B0604020202020204" pitchFamily="34" charset="0"/>
              <a:buChar char="•"/>
              <a:defRPr>
                <a:solidFill>
                  <a:srgbClr val="000000"/>
                </a:solidFill>
              </a:defRPr>
            </a:pPr>
            <a:r>
              <a:rPr lang="en-US" dirty="0" err="1">
                <a:latin typeface="Source Sans Pro" panose="020B0503030403020204" pitchFamily="34" charset="0"/>
                <a:ea typeface="Source Sans Pro" panose="020B0503030403020204" pitchFamily="34" charset="0"/>
                <a:cs typeface="Arial" panose="020B0604020202020204" pitchFamily="34" charset="0"/>
              </a:rPr>
              <a:t>pysenti</a:t>
            </a:r>
            <a:r>
              <a:rPr lang="en-US" dirty="0">
                <a:latin typeface="Source Sans Pro" panose="020B0503030403020204" pitchFamily="34" charset="0"/>
                <a:ea typeface="Source Sans Pro" panose="020B0503030403020204" pitchFamily="34" charset="0"/>
                <a:cs typeface="Arial" panose="020B0604020202020204" pitchFamily="34" charset="0"/>
              </a:rPr>
              <a:t>:</a:t>
            </a:r>
          </a:p>
          <a:p>
            <a:pPr marL="171450" indent="-171450">
              <a:lnSpc>
                <a:spcPct val="90000"/>
              </a:lnSpc>
              <a:spcBef>
                <a:spcPts val="0"/>
              </a:spcBef>
              <a:buFont typeface="Arial" panose="020B0604020202020204" pitchFamily="34" charset="0"/>
              <a:buChar char="•"/>
              <a:defRPr>
                <a:solidFill>
                  <a:srgbClr val="000000"/>
                </a:solidFill>
              </a:defRPr>
            </a:pPr>
            <a:endParaRPr lang="en-US" dirty="0">
              <a:latin typeface="Source Sans Pro" panose="020B0503030403020204" pitchFamily="34" charset="0"/>
              <a:ea typeface="Source Sans Pro" panose="020B0503030403020204" pitchFamily="34" charset="0"/>
              <a:cs typeface="Arial" panose="020B0604020202020204" pitchFamily="34" charset="0"/>
            </a:endParaRPr>
          </a:p>
          <a:p>
            <a:pPr marL="171450" lvl="1" indent="-171450">
              <a:lnSpc>
                <a:spcPct val="90000"/>
              </a:lnSpc>
              <a:spcBef>
                <a:spcPts val="0"/>
              </a:spcBef>
              <a:buFont typeface="Arial" panose="020B0604020202020204" pitchFamily="34" charset="0"/>
              <a:buChar char="•"/>
              <a:defRPr>
                <a:solidFill>
                  <a:srgbClr val="000000"/>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4" name="Logistics">
            <a:extLst>
              <a:ext uri="{FF2B5EF4-FFF2-40B4-BE49-F238E27FC236}">
                <a16:creationId xmlns:a16="http://schemas.microsoft.com/office/drawing/2014/main" id="{BD876118-151C-C772-BF28-FD3E7C8D2139}"/>
              </a:ext>
            </a:extLst>
          </p:cNvPr>
          <p:cNvSpPr txBox="1"/>
          <p:nvPr/>
        </p:nvSpPr>
        <p:spPr>
          <a:xfrm>
            <a:off x="4679009" y="5322917"/>
            <a:ext cx="16719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Reply Filters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9" name="Use headers, colors, and/or backgrounds to separate or group together sections.">
            <a:extLst>
              <a:ext uri="{FF2B5EF4-FFF2-40B4-BE49-F238E27FC236}">
                <a16:creationId xmlns:a16="http://schemas.microsoft.com/office/drawing/2014/main" id="{91130440-9ACC-10AA-BE71-76997FC39351}"/>
              </a:ext>
            </a:extLst>
          </p:cNvPr>
          <p:cNvSpPr txBox="1"/>
          <p:nvPr/>
        </p:nvSpPr>
        <p:spPr>
          <a:xfrm>
            <a:off x="4650957" y="5693102"/>
            <a:ext cx="4626076" cy="743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Developer comments generally include code blocks, automated messages, bot messages, markdown formatting, etc. To ensure that the model focuses only on human-generated content, </a:t>
            </a:r>
            <a:r>
              <a:rPr lang="en-US" b="0" dirty="0" err="1">
                <a:latin typeface="Source Sans Pro" panose="020B0503030403020204" pitchFamily="34" charset="0"/>
                <a:ea typeface="Source Sans Pro" panose="020B0503030403020204" pitchFamily="34" charset="0"/>
                <a:cs typeface="Arial" panose="020B0604020202020204" pitchFamily="34" charset="0"/>
              </a:rPr>
              <a:t>Kaiaulu</a:t>
            </a:r>
            <a:r>
              <a:rPr lang="en-US" b="0" dirty="0">
                <a:latin typeface="Source Sans Pro" panose="020B0503030403020204" pitchFamily="34" charset="0"/>
                <a:ea typeface="Source Sans Pro" panose="020B0503030403020204" pitchFamily="34" charset="0"/>
                <a:cs typeface="Arial" panose="020B0604020202020204" pitchFamily="34" charset="0"/>
              </a:rPr>
              <a:t> offers filters to pre-process comment data from any source.</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Arial" panose="020B0604020202020204" pitchFamily="34" charset="0"/>
              <a:cs typeface="Arial" panose="020B0604020202020204" pitchFamily="34" charset="0"/>
              <a:hlinkClick r:id="rId4"/>
            </a:endParaRPr>
          </a:p>
        </p:txBody>
      </p:sp>
      <p:sp>
        <p:nvSpPr>
          <p:cNvPr id="20" name="KEYNOTE">
            <a:extLst>
              <a:ext uri="{FF2B5EF4-FFF2-40B4-BE49-F238E27FC236}">
                <a16:creationId xmlns:a16="http://schemas.microsoft.com/office/drawing/2014/main" id="{98322387-DB88-46B5-FA28-DC06E575B289}"/>
              </a:ext>
            </a:extLst>
          </p:cNvPr>
          <p:cNvSpPr txBox="1"/>
          <p:nvPr/>
        </p:nvSpPr>
        <p:spPr>
          <a:xfrm>
            <a:off x="4679010" y="6488218"/>
            <a:ext cx="4168576" cy="2410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400" dirty="0" err="1">
                <a:solidFill>
                  <a:schemeClr val="tx1"/>
                </a:solidFill>
                <a:latin typeface="Source Sans Pro" panose="020B0503030403020204" pitchFamily="34" charset="0"/>
                <a:ea typeface="Source Sans Pro" panose="020B0503030403020204" pitchFamily="34" charset="0"/>
              </a:rPr>
              <a:t>filter_by_reply</a:t>
            </a:r>
            <a:r>
              <a:rPr lang="en-US" sz="1400" dirty="0">
                <a:solidFill>
                  <a:schemeClr val="tx1"/>
                </a:solidFill>
                <a:latin typeface="Source Sans Pro" panose="020B0503030403020204" pitchFamily="34" charset="0"/>
                <a:ea typeface="Source Sans Pro" panose="020B0503030403020204" pitchFamily="34" charset="0"/>
              </a:rPr>
              <a:t>_&lt;</a:t>
            </a:r>
            <a:r>
              <a:rPr lang="en-US" sz="1400" dirty="0" err="1">
                <a:solidFill>
                  <a:schemeClr val="tx1"/>
                </a:solidFill>
                <a:latin typeface="Source Sans Pro" panose="020B0503030403020204" pitchFamily="34" charset="0"/>
                <a:ea typeface="Source Sans Pro" panose="020B0503030403020204" pitchFamily="34" charset="0"/>
              </a:rPr>
              <a:t>author|subject|body</a:t>
            </a:r>
            <a:r>
              <a:rPr lang="en-US" sz="1400" dirty="0">
                <a:solidFill>
                  <a:schemeClr val="tx1"/>
                </a:solidFill>
                <a:latin typeface="Source Sans Pro" panose="020B0503030403020204" pitchFamily="34" charset="0"/>
                <a:ea typeface="Source Sans Pro" panose="020B0503030403020204" pitchFamily="34" charset="0"/>
              </a:rPr>
              <a:t>&gt;_substring()</a:t>
            </a:r>
            <a:endParaRPr sz="1400" dirty="0">
              <a:solidFill>
                <a:schemeClr val="tx1"/>
              </a:solidFill>
              <a:latin typeface="Source Sans Pro" panose="020B0503030403020204" pitchFamily="34" charset="0"/>
              <a:ea typeface="Source Sans Pro" panose="020B0503030403020204" pitchFamily="34" charset="0"/>
            </a:endParaRPr>
          </a:p>
        </p:txBody>
      </p:sp>
      <p:pic>
        <p:nvPicPr>
          <p:cNvPr id="1048" name="Picture 24" descr="Account ">
            <a:extLst>
              <a:ext uri="{FF2B5EF4-FFF2-40B4-BE49-F238E27FC236}">
                <a16:creationId xmlns:a16="http://schemas.microsoft.com/office/drawing/2014/main" id="{FC038DD0-8322-CE69-AFD6-9F88237161B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44906" y="7311096"/>
            <a:ext cx="267968" cy="267968"/>
          </a:xfrm>
          <a:prstGeom prst="rect">
            <a:avLst/>
          </a:prstGeom>
          <a:noFill/>
          <a:extLst>
            <a:ext uri="{909E8E84-426E-40DD-AFC4-6F175D3DCCD1}">
              <a14:hiddenFill xmlns:a14="http://schemas.microsoft.com/office/drawing/2010/main">
                <a:solidFill>
                  <a:srgbClr val="FFFFFF"/>
                </a:solidFill>
              </a14:hiddenFill>
            </a:ext>
          </a:extLst>
        </p:spPr>
      </p:pic>
      <p:sp>
        <p:nvSpPr>
          <p:cNvPr id="29" name="Use headers, colors, and/or backgrounds to separate or group together sections.">
            <a:extLst>
              <a:ext uri="{FF2B5EF4-FFF2-40B4-BE49-F238E27FC236}">
                <a16:creationId xmlns:a16="http://schemas.microsoft.com/office/drawing/2014/main" id="{D47AE154-4C55-5E71-363F-73B20A1EA273}"/>
              </a:ext>
            </a:extLst>
          </p:cNvPr>
          <p:cNvSpPr txBox="1"/>
          <p:nvPr/>
        </p:nvSpPr>
        <p:spPr>
          <a:xfrm>
            <a:off x="4801147" y="6991917"/>
            <a:ext cx="2642558" cy="2601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dirty="0">
                <a:latin typeface="Source Sans Pro" panose="020B0503030403020204" pitchFamily="34" charset="0"/>
                <a:ea typeface="Source Sans Pro" panose="020B0503030403020204" pitchFamily="34" charset="0"/>
                <a:cs typeface="Arial" panose="020B0604020202020204" pitchFamily="34" charset="0"/>
              </a:rPr>
              <a:t>Re: [</a:t>
            </a:r>
            <a:r>
              <a:rPr lang="en-US" dirty="0" err="1">
                <a:latin typeface="Source Sans Pro" panose="020B0503030403020204" pitchFamily="34" charset="0"/>
                <a:ea typeface="Source Sans Pro" panose="020B0503030403020204" pitchFamily="34" charset="0"/>
                <a:cs typeface="Arial" panose="020B0604020202020204" pitchFamily="34" charset="0"/>
              </a:rPr>
              <a:t>sailuh</a:t>
            </a:r>
            <a:r>
              <a:rPr lang="en-US" dirty="0">
                <a:latin typeface="Source Sans Pro" panose="020B0503030403020204" pitchFamily="34" charset="0"/>
                <a:ea typeface="Source Sans Pro" panose="020B0503030403020204" pitchFamily="34" charset="0"/>
                <a:cs typeface="Arial" panose="020B0604020202020204" pitchFamily="34" charset="0"/>
              </a:rPr>
              <a:t>/</a:t>
            </a:r>
            <a:r>
              <a:rPr lang="en-US" dirty="0" err="1">
                <a:latin typeface="Source Sans Pro" panose="020B0503030403020204" pitchFamily="34" charset="0"/>
                <a:ea typeface="Source Sans Pro" panose="020B0503030403020204" pitchFamily="34" charset="0"/>
                <a:cs typeface="Arial" panose="020B0604020202020204" pitchFamily="34" charset="0"/>
              </a:rPr>
              <a:t>kaiaulu</a:t>
            </a:r>
            <a:r>
              <a:rPr lang="en-US" dirty="0">
                <a:latin typeface="Source Sans Pro" panose="020B0503030403020204" pitchFamily="34" charset="0"/>
                <a:ea typeface="Source Sans Pro" panose="020B0503030403020204" pitchFamily="34" charset="0"/>
                <a:cs typeface="Arial" panose="020B0604020202020204" pitchFamily="34" charset="0"/>
              </a:rPr>
              <a:t>] Lorem Ipsum</a:t>
            </a:r>
            <a:endParaRPr lang="en-US"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Arial" panose="020B0604020202020204" pitchFamily="34" charset="0"/>
              <a:cs typeface="Arial" panose="020B0604020202020204" pitchFamily="34" charset="0"/>
              <a:hlinkClick r:id="rId4"/>
            </a:endParaRPr>
          </a:p>
        </p:txBody>
      </p:sp>
      <p:sp>
        <p:nvSpPr>
          <p:cNvPr id="30" name="Use headers, colors, and/or backgrounds to separate or group together sections.">
            <a:extLst>
              <a:ext uri="{FF2B5EF4-FFF2-40B4-BE49-F238E27FC236}">
                <a16:creationId xmlns:a16="http://schemas.microsoft.com/office/drawing/2014/main" id="{76ED7497-F1FD-B05D-AEE6-6DC73116D257}"/>
              </a:ext>
            </a:extLst>
          </p:cNvPr>
          <p:cNvSpPr txBox="1"/>
          <p:nvPr/>
        </p:nvSpPr>
        <p:spPr>
          <a:xfrm>
            <a:off x="5120524" y="7252024"/>
            <a:ext cx="2173823" cy="440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buSzPts val="3700"/>
            </a:pPr>
            <a:r>
              <a:rPr lang="en-US" sz="900" dirty="0">
                <a:latin typeface="Arial" panose="020B0604020202020204" pitchFamily="34" charset="0"/>
                <a:cs typeface="Arial" panose="020B0604020202020204" pitchFamily="34" charset="0"/>
              </a:rPr>
              <a:t>Username </a:t>
            </a:r>
            <a:r>
              <a:rPr lang="en-US" sz="800" b="0" dirty="0">
                <a:latin typeface="Arial" panose="020B0604020202020204" pitchFamily="34" charset="0"/>
                <a:cs typeface="Arial" panose="020B0604020202020204" pitchFamily="34" charset="0"/>
              </a:rPr>
              <a:t>&lt;notifications@github.com&gt;</a:t>
            </a:r>
            <a:endParaRPr lang="en-US" sz="800" b="0" u="sng" dirty="0">
              <a:solidFill>
                <a:schemeClr val="hlink"/>
              </a:solidFill>
              <a:latin typeface="Arial" panose="020B0604020202020204" pitchFamily="34" charset="0"/>
              <a:ea typeface="Arial"/>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Arial" panose="020B0604020202020204" pitchFamily="34" charset="0"/>
              <a:cs typeface="Arial" panose="020B0604020202020204" pitchFamily="34" charset="0"/>
              <a:hlinkClick r:id="rId4"/>
            </a:endParaRPr>
          </a:p>
        </p:txBody>
      </p:sp>
      <p:sp>
        <p:nvSpPr>
          <p:cNvPr id="33" name="Use headers, colors, and/or backgrounds to separate or group together sections.">
            <a:extLst>
              <a:ext uri="{FF2B5EF4-FFF2-40B4-BE49-F238E27FC236}">
                <a16:creationId xmlns:a16="http://schemas.microsoft.com/office/drawing/2014/main" id="{EC7A6371-09E9-FF40-D4F7-5ABACD312D71}"/>
              </a:ext>
            </a:extLst>
          </p:cNvPr>
          <p:cNvSpPr txBox="1"/>
          <p:nvPr/>
        </p:nvSpPr>
        <p:spPr>
          <a:xfrm>
            <a:off x="5131124" y="7387342"/>
            <a:ext cx="2940231" cy="2210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buSzPts val="3700"/>
            </a:pPr>
            <a:r>
              <a:rPr lang="en-US" sz="800" b="0" dirty="0">
                <a:latin typeface="Arial" panose="020B0604020202020204" pitchFamily="34" charset="0"/>
                <a:cs typeface="Arial" panose="020B0604020202020204" pitchFamily="34" charset="0"/>
              </a:rPr>
              <a:t>to </a:t>
            </a:r>
            <a:r>
              <a:rPr lang="en-US" sz="800" b="0" dirty="0" err="1">
                <a:latin typeface="Arial" panose="020B0604020202020204" pitchFamily="34" charset="0"/>
                <a:cs typeface="Arial" panose="020B0604020202020204" pitchFamily="34" charset="0"/>
              </a:rPr>
              <a:t>sailuh</a:t>
            </a:r>
            <a:r>
              <a:rPr lang="en-US" sz="800" b="0" dirty="0">
                <a:latin typeface="Arial" panose="020B0604020202020204" pitchFamily="34" charset="0"/>
                <a:cs typeface="Arial" panose="020B0604020202020204" pitchFamily="34" charset="0"/>
              </a:rPr>
              <a:t>/</a:t>
            </a:r>
            <a:r>
              <a:rPr lang="en-US" sz="800" b="0" dirty="0" err="1">
                <a:latin typeface="Arial" panose="020B0604020202020204" pitchFamily="34" charset="0"/>
                <a:cs typeface="Arial" panose="020B0604020202020204" pitchFamily="34" charset="0"/>
              </a:rPr>
              <a:t>kaiaulu</a:t>
            </a:r>
            <a:r>
              <a:rPr lang="en-US" sz="800" b="0" dirty="0">
                <a:latin typeface="Arial" panose="020B0604020202020204" pitchFamily="34" charset="0"/>
                <a:cs typeface="Arial" panose="020B0604020202020204" pitchFamily="34" charset="0"/>
              </a:rPr>
              <a:t>, me</a:t>
            </a:r>
            <a:endParaRPr lang="en-US" sz="800" b="0" u="sng" dirty="0">
              <a:solidFill>
                <a:schemeClr val="hlink"/>
              </a:solidFill>
              <a:latin typeface="Arial" panose="020B0604020202020204" pitchFamily="34" charset="0"/>
              <a:cs typeface="Arial" panose="020B0604020202020204" pitchFamily="34" charset="0"/>
              <a:hlinkClick r:id="rId4"/>
            </a:endParaRPr>
          </a:p>
        </p:txBody>
      </p:sp>
      <p:pic>
        <p:nvPicPr>
          <p:cNvPr id="1050" name="Picture 26" descr="Play ">
            <a:extLst>
              <a:ext uri="{FF2B5EF4-FFF2-40B4-BE49-F238E27FC236}">
                <a16:creationId xmlns:a16="http://schemas.microsoft.com/office/drawing/2014/main" id="{F1632A72-CEF6-22AC-33FA-74C048EFB83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5400000">
            <a:off x="6170460" y="7460169"/>
            <a:ext cx="85344" cy="85344"/>
          </a:xfrm>
          <a:prstGeom prst="rect">
            <a:avLst/>
          </a:prstGeom>
          <a:noFill/>
          <a:extLst>
            <a:ext uri="{909E8E84-426E-40DD-AFC4-6F175D3DCCD1}">
              <a14:hiddenFill xmlns:a14="http://schemas.microsoft.com/office/drawing/2010/main">
                <a:solidFill>
                  <a:srgbClr val="FFFFFF"/>
                </a:solidFill>
              </a14:hiddenFill>
            </a:ext>
          </a:extLst>
        </p:spPr>
      </p:pic>
      <p:sp>
        <p:nvSpPr>
          <p:cNvPr id="34"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61B01566-DBBE-9EB4-0140-0C85986BE997}"/>
              </a:ext>
            </a:extLst>
          </p:cNvPr>
          <p:cNvSpPr txBox="1"/>
          <p:nvPr/>
        </p:nvSpPr>
        <p:spPr>
          <a:xfrm>
            <a:off x="5131124" y="7619022"/>
            <a:ext cx="2454637" cy="7334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900" b="0" dirty="0">
                <a:sym typeface="Source Sans Pro Light"/>
              </a:rPr>
              <a:t>Lorem ipsum dolor sit </a:t>
            </a:r>
            <a:r>
              <a:rPr lang="en-US" sz="900" b="0" dirty="0" err="1">
                <a:sym typeface="Source Sans Pro Light"/>
              </a:rPr>
              <a:t>amet</a:t>
            </a:r>
            <a:r>
              <a:rPr lang="en-US" sz="900" b="0" dirty="0">
                <a:sym typeface="Source Sans Pro Light"/>
              </a:rPr>
              <a:t>, </a:t>
            </a:r>
            <a:r>
              <a:rPr lang="en-US" sz="900" b="0" dirty="0" err="1">
                <a:sym typeface="Source Sans Pro Light"/>
              </a:rPr>
              <a:t>consectetur</a:t>
            </a:r>
            <a:r>
              <a:rPr lang="en-US" sz="900" b="0" dirty="0">
                <a:sym typeface="Source Sans Pro Light"/>
              </a:rPr>
              <a:t> </a:t>
            </a:r>
            <a:r>
              <a:rPr lang="en-US" sz="900" b="0" dirty="0" err="1">
                <a:sym typeface="Source Sans Pro Light"/>
              </a:rPr>
              <a:t>adipiscing</a:t>
            </a:r>
            <a:r>
              <a:rPr lang="en-US" sz="900" b="0" dirty="0">
                <a:sym typeface="Source Sans Pro Light"/>
              </a:rPr>
              <a:t> </a:t>
            </a:r>
            <a:r>
              <a:rPr lang="en-US" sz="900" b="0" dirty="0" err="1">
                <a:sym typeface="Source Sans Pro Light"/>
              </a:rPr>
              <a:t>elit</a:t>
            </a:r>
            <a:r>
              <a:rPr lang="en-US" sz="900" b="0" dirty="0">
                <a:sym typeface="Source Sans Pro Light"/>
              </a:rPr>
              <a:t>, sed do </a:t>
            </a:r>
            <a:r>
              <a:rPr lang="en-US" sz="900" b="0" dirty="0" err="1">
                <a:sym typeface="Source Sans Pro Light"/>
              </a:rPr>
              <a:t>eiusmod</a:t>
            </a:r>
            <a:r>
              <a:rPr lang="en-US" sz="900" b="0" dirty="0">
                <a:sym typeface="Source Sans Pro Light"/>
              </a:rPr>
              <a:t> </a:t>
            </a:r>
            <a:r>
              <a:rPr lang="en-US" sz="900" b="0" dirty="0" err="1">
                <a:sym typeface="Source Sans Pro Light"/>
              </a:rPr>
              <a:t>tempor</a:t>
            </a:r>
            <a:r>
              <a:rPr lang="en-US" sz="900" b="0" dirty="0">
                <a:sym typeface="Source Sans Pro Light"/>
              </a:rPr>
              <a:t> </a:t>
            </a:r>
            <a:r>
              <a:rPr lang="en-US" sz="900" b="0" dirty="0" err="1">
                <a:sym typeface="Source Sans Pro Light"/>
              </a:rPr>
              <a:t>incididunt</a:t>
            </a:r>
            <a:r>
              <a:rPr lang="en-US" sz="900" b="0" dirty="0">
                <a:sym typeface="Source Sans Pro Light"/>
              </a:rPr>
              <a:t> </a:t>
            </a:r>
            <a:r>
              <a:rPr lang="en-US" sz="900" b="0" dirty="0" err="1">
                <a:sym typeface="Source Sans Pro Light"/>
              </a:rPr>
              <a:t>ut</a:t>
            </a:r>
            <a:r>
              <a:rPr lang="en-US" sz="900" b="0" dirty="0">
                <a:sym typeface="Source Sans Pro Light"/>
              </a:rPr>
              <a:t> labore et dolore magna </a:t>
            </a:r>
            <a:r>
              <a:rPr lang="en-US" sz="900" b="0" dirty="0" err="1">
                <a:sym typeface="Source Sans Pro Light"/>
              </a:rPr>
              <a:t>aliqua</a:t>
            </a:r>
            <a:r>
              <a:rPr lang="en-US" sz="900" b="0" dirty="0">
                <a:sym typeface="Source Sans Pro Light"/>
              </a:rPr>
              <a:t>. Ut </a:t>
            </a:r>
            <a:r>
              <a:rPr lang="en-US" sz="900" b="0" dirty="0" err="1">
                <a:sym typeface="Source Sans Pro Light"/>
              </a:rPr>
              <a:t>enim</a:t>
            </a:r>
            <a:r>
              <a:rPr lang="en-US" sz="900" b="0" dirty="0">
                <a:sym typeface="Source Sans Pro Light"/>
              </a:rPr>
              <a:t> ad minim </a:t>
            </a:r>
            <a:r>
              <a:rPr lang="en-US" sz="900" b="0" dirty="0" err="1">
                <a:sym typeface="Source Sans Pro Light"/>
              </a:rPr>
              <a:t>veniam</a:t>
            </a:r>
            <a:r>
              <a:rPr lang="en-US" sz="900" b="0" dirty="0">
                <a:sym typeface="Source Sans Pro Light"/>
              </a:rPr>
              <a:t>, </a:t>
            </a:r>
            <a:r>
              <a:rPr lang="en-US" sz="900" b="0" dirty="0" err="1">
                <a:sym typeface="Source Sans Pro Light"/>
              </a:rPr>
              <a:t>quis</a:t>
            </a:r>
            <a:r>
              <a:rPr lang="en-US" sz="900" b="0" dirty="0">
                <a:sym typeface="Source Sans Pro Light"/>
              </a:rPr>
              <a:t> </a:t>
            </a:r>
            <a:r>
              <a:rPr lang="en-US" sz="900" b="0" dirty="0" err="1">
                <a:sym typeface="Source Sans Pro Light"/>
              </a:rPr>
              <a:t>nostrud</a:t>
            </a:r>
            <a:r>
              <a:rPr lang="en-US" sz="900" b="0" dirty="0">
                <a:sym typeface="Source Sans Pro Light"/>
              </a:rPr>
              <a:t> exercitation </a:t>
            </a:r>
            <a:r>
              <a:rPr lang="en-US" sz="900" b="0" dirty="0" err="1">
                <a:sym typeface="Source Sans Pro Light"/>
              </a:rPr>
              <a:t>ullamco</a:t>
            </a:r>
            <a:r>
              <a:rPr lang="en-US" sz="900" b="0" dirty="0">
                <a:sym typeface="Source Sans Pro Light"/>
              </a:rPr>
              <a:t> </a:t>
            </a:r>
            <a:r>
              <a:rPr lang="en-US" sz="900" b="0" dirty="0" err="1">
                <a:sym typeface="Source Sans Pro Light"/>
              </a:rPr>
              <a:t>laboris</a:t>
            </a:r>
            <a:r>
              <a:rPr lang="en-US" sz="900" b="0" dirty="0">
                <a:sym typeface="Source Sans Pro Light"/>
              </a:rPr>
              <a:t> nisi </a:t>
            </a:r>
            <a:r>
              <a:rPr lang="en-US" sz="900" b="0" dirty="0" err="1">
                <a:sym typeface="Source Sans Pro Light"/>
              </a:rPr>
              <a:t>ut</a:t>
            </a:r>
            <a:r>
              <a:rPr lang="en-US" sz="900" b="0" dirty="0">
                <a:sym typeface="Source Sans Pro Light"/>
              </a:rPr>
              <a:t> </a:t>
            </a:r>
            <a:r>
              <a:rPr lang="en-US" sz="900" b="0" dirty="0" err="1">
                <a:sym typeface="Source Sans Pro Light"/>
              </a:rPr>
              <a:t>aliquip</a:t>
            </a:r>
            <a:r>
              <a:rPr lang="en-US" sz="900" b="0" dirty="0">
                <a:sym typeface="Source Sans Pro Light"/>
              </a:rPr>
              <a:t> ex </a:t>
            </a:r>
            <a:r>
              <a:rPr lang="en-US" sz="900" b="0" dirty="0" err="1">
                <a:sym typeface="Source Sans Pro Light"/>
              </a:rPr>
              <a:t>ea</a:t>
            </a:r>
            <a:r>
              <a:rPr lang="en-US" sz="900" b="0" dirty="0">
                <a:sym typeface="Source Sans Pro Light"/>
              </a:rPr>
              <a:t> </a:t>
            </a:r>
            <a:r>
              <a:rPr lang="en-US" sz="900" b="0" dirty="0" err="1">
                <a:sym typeface="Source Sans Pro Light"/>
              </a:rPr>
              <a:t>commodo</a:t>
            </a:r>
            <a:r>
              <a:rPr lang="en-US" sz="900" b="0" dirty="0">
                <a:sym typeface="Source Sans Pro Light"/>
              </a:rPr>
              <a:t> </a:t>
            </a:r>
            <a:r>
              <a:rPr lang="en-US" sz="900" b="0" dirty="0" err="1">
                <a:sym typeface="Source Sans Pro Light"/>
              </a:rPr>
              <a:t>consequat</a:t>
            </a:r>
            <a:r>
              <a:rPr lang="en-US" sz="900" b="0" dirty="0">
                <a:sym typeface="Source Sans Pro Light"/>
              </a:rPr>
              <a:t>.</a:t>
            </a:r>
            <a:endParaRPr lang="en-US" sz="900" u="sng" dirty="0">
              <a:latin typeface="Source Sans Pro"/>
              <a:ea typeface="Source Sans Pro"/>
              <a:cs typeface="Source Sans Pro"/>
              <a:sym typeface="Source Sans Pro"/>
              <a:hlinkClick r:id="rId4"/>
            </a:endParaRPr>
          </a:p>
        </p:txBody>
      </p:sp>
      <p:sp>
        <p:nvSpPr>
          <p:cNvPr id="36"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9DBE56B4-F39F-C720-A873-0F414379795A}"/>
              </a:ext>
            </a:extLst>
          </p:cNvPr>
          <p:cNvSpPr txBox="1"/>
          <p:nvPr/>
        </p:nvSpPr>
        <p:spPr>
          <a:xfrm>
            <a:off x="7778509" y="7242287"/>
            <a:ext cx="1489673"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cs typeface="Arial" panose="020B0604020202020204" pitchFamily="34" charset="0"/>
              </a:rPr>
              <a:t>A</a:t>
            </a:r>
            <a:r>
              <a:rPr lang="en-US" dirty="0">
                <a:latin typeface="Source Sans Pro" panose="020B0503030403020204" pitchFamily="34" charset="0"/>
                <a:ea typeface="Source Sans Pro" panose="020B0503030403020204" pitchFamily="34" charset="0"/>
                <a:cs typeface="Arial" panose="020B0604020202020204" pitchFamily="34" charset="0"/>
                <a:sym typeface="Source Sans Pro"/>
              </a:rPr>
              <a:t>uthor</a:t>
            </a:r>
            <a:r>
              <a:rPr lang="en-US" dirty="0">
                <a:latin typeface="Source Sans Pro" panose="020B0503030403020204" pitchFamily="34" charset="0"/>
                <a:ea typeface="Source Sans Pro" panose="020B0503030403020204" pitchFamily="34" charset="0"/>
                <a:sym typeface="Source Sans Pro"/>
              </a:rPr>
              <a:t> (e.g., no-reply@apache.org)</a:t>
            </a:r>
            <a:endParaRPr lang="en-US" u="sng" dirty="0">
              <a:latin typeface="Source Sans Pro" panose="020B0503030403020204" pitchFamily="34" charset="0"/>
              <a:ea typeface="Source Sans Pro" panose="020B0503030403020204" pitchFamily="34" charset="0"/>
              <a:sym typeface="Source Sans Pro"/>
              <a:hlinkClick r:id="rId4"/>
            </a:endParaRPr>
          </a:p>
        </p:txBody>
      </p:sp>
      <p:cxnSp>
        <p:nvCxnSpPr>
          <p:cNvPr id="43" name="Straight Connector 42">
            <a:extLst>
              <a:ext uri="{FF2B5EF4-FFF2-40B4-BE49-F238E27FC236}">
                <a16:creationId xmlns:a16="http://schemas.microsoft.com/office/drawing/2014/main" id="{EF4CBDDD-BA94-4685-B70C-79442F844BB5}"/>
              </a:ext>
            </a:extLst>
          </p:cNvPr>
          <p:cNvCxnSpPr>
            <a:cxnSpLocks/>
          </p:cNvCxnSpPr>
          <p:nvPr/>
        </p:nvCxnSpPr>
        <p:spPr>
          <a:xfrm>
            <a:off x="7118252" y="7357071"/>
            <a:ext cx="653507" cy="0"/>
          </a:xfrm>
          <a:prstGeom prst="line">
            <a:avLst/>
          </a:prstGeom>
          <a:noFill/>
          <a:ln w="190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4"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5B3B17C1-58BE-E2D3-2181-501954A26A42}"/>
              </a:ext>
            </a:extLst>
          </p:cNvPr>
          <p:cNvSpPr txBox="1"/>
          <p:nvPr/>
        </p:nvSpPr>
        <p:spPr>
          <a:xfrm>
            <a:off x="7778509" y="7002417"/>
            <a:ext cx="1770534"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cs typeface="Arial" panose="020B0604020202020204" pitchFamily="34" charset="0"/>
              </a:rPr>
              <a:t>S</a:t>
            </a:r>
            <a:r>
              <a:rPr lang="en-US" dirty="0">
                <a:latin typeface="Source Sans Pro" panose="020B0503030403020204" pitchFamily="34" charset="0"/>
                <a:ea typeface="Source Sans Pro" panose="020B0503030403020204" pitchFamily="34" charset="0"/>
                <a:cs typeface="Arial" panose="020B0604020202020204" pitchFamily="34" charset="0"/>
                <a:sym typeface="Source Sans Pro"/>
              </a:rPr>
              <a:t>ubject</a:t>
            </a:r>
            <a:r>
              <a:rPr lang="en-US" dirty="0">
                <a:latin typeface="Source Sans Pro" panose="020B0503030403020204" pitchFamily="34" charset="0"/>
                <a:ea typeface="Source Sans Pro" panose="020B0503030403020204" pitchFamily="34" charset="0"/>
                <a:sym typeface="Source Sans Pro"/>
              </a:rPr>
              <a:t> (e.g., [VOTE])</a:t>
            </a:r>
            <a:endParaRPr lang="en-US" u="sng" dirty="0">
              <a:latin typeface="Source Sans Pro" panose="020B0503030403020204" pitchFamily="34" charset="0"/>
              <a:ea typeface="Source Sans Pro" panose="020B0503030403020204" pitchFamily="34" charset="0"/>
              <a:sym typeface="Source Sans Pro"/>
              <a:hlinkClick r:id="rId4"/>
            </a:endParaRPr>
          </a:p>
        </p:txBody>
      </p:sp>
      <p:cxnSp>
        <p:nvCxnSpPr>
          <p:cNvPr id="45" name="Straight Connector 44">
            <a:extLst>
              <a:ext uri="{FF2B5EF4-FFF2-40B4-BE49-F238E27FC236}">
                <a16:creationId xmlns:a16="http://schemas.microsoft.com/office/drawing/2014/main" id="{4F36A8E1-72B5-6B0D-7CC8-45DAB90E2A68}"/>
              </a:ext>
            </a:extLst>
          </p:cNvPr>
          <p:cNvCxnSpPr>
            <a:cxnSpLocks/>
          </p:cNvCxnSpPr>
          <p:nvPr/>
        </p:nvCxnSpPr>
        <p:spPr>
          <a:xfrm>
            <a:off x="7118252" y="7129508"/>
            <a:ext cx="653507" cy="0"/>
          </a:xfrm>
          <a:prstGeom prst="line">
            <a:avLst/>
          </a:prstGeom>
          <a:noFill/>
          <a:ln w="190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A0682C79-B969-40DB-1AF2-BAA4DFBFE7C7}"/>
              </a:ext>
            </a:extLst>
          </p:cNvPr>
          <p:cNvCxnSpPr>
            <a:cxnSpLocks/>
          </p:cNvCxnSpPr>
          <p:nvPr/>
        </p:nvCxnSpPr>
        <p:spPr>
          <a:xfrm>
            <a:off x="7559640" y="7855069"/>
            <a:ext cx="212119" cy="0"/>
          </a:xfrm>
          <a:prstGeom prst="line">
            <a:avLst/>
          </a:prstGeom>
          <a:noFill/>
          <a:ln w="190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4885FFF7-F6E6-54F0-80AE-4A0E14FABF4C}"/>
              </a:ext>
            </a:extLst>
          </p:cNvPr>
          <p:cNvSpPr txBox="1"/>
          <p:nvPr/>
        </p:nvSpPr>
        <p:spPr>
          <a:xfrm>
            <a:off x="7771759" y="7715260"/>
            <a:ext cx="1489673"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cs typeface="Arial" panose="020B0604020202020204" pitchFamily="34" charset="0"/>
              </a:rPr>
              <a:t>B</a:t>
            </a:r>
            <a:r>
              <a:rPr lang="en-US" dirty="0">
                <a:latin typeface="Source Sans Pro" panose="020B0503030403020204" pitchFamily="34" charset="0"/>
                <a:ea typeface="Source Sans Pro" panose="020B0503030403020204" pitchFamily="34" charset="0"/>
                <a:cs typeface="Arial" panose="020B0604020202020204" pitchFamily="34" charset="0"/>
                <a:sym typeface="Source Sans Pro"/>
              </a:rPr>
              <a:t>ody</a:t>
            </a:r>
            <a:endParaRPr lang="en-US" u="sng" dirty="0">
              <a:latin typeface="Source Sans Pro" panose="020B0503030403020204" pitchFamily="34" charset="0"/>
              <a:ea typeface="Source Sans Pro" panose="020B0503030403020204" pitchFamily="34" charset="0"/>
              <a:cs typeface="Arial" panose="020B0604020202020204" pitchFamily="34" charset="0"/>
              <a:sym typeface="Source Sans Pro"/>
              <a:hlinkClick r:id="rId4"/>
            </a:endParaRPr>
          </a:p>
        </p:txBody>
      </p:sp>
      <p:sp>
        <p:nvSpPr>
          <p:cNvPr id="1025" name="Rectangle 1024">
            <a:extLst>
              <a:ext uri="{FF2B5EF4-FFF2-40B4-BE49-F238E27FC236}">
                <a16:creationId xmlns:a16="http://schemas.microsoft.com/office/drawing/2014/main" id="{3E55F36A-3C7B-7A93-AF19-9CA564FF21FB}"/>
              </a:ext>
            </a:extLst>
          </p:cNvPr>
          <p:cNvSpPr/>
          <p:nvPr/>
        </p:nvSpPr>
        <p:spPr>
          <a:xfrm>
            <a:off x="5132402" y="9037402"/>
            <a:ext cx="2922392" cy="95975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bg2">
                  <a:lumMod val="10000"/>
                </a:schemeClr>
              </a:solidFill>
            </a:endParaRPr>
          </a:p>
        </p:txBody>
      </p:sp>
      <p:sp>
        <p:nvSpPr>
          <p:cNvPr id="1027" name="Rectangle 1026">
            <a:extLst>
              <a:ext uri="{FF2B5EF4-FFF2-40B4-BE49-F238E27FC236}">
                <a16:creationId xmlns:a16="http://schemas.microsoft.com/office/drawing/2014/main" id="{B63C3E82-A35D-269D-94BE-3AF1EA05ED36}"/>
              </a:ext>
            </a:extLst>
          </p:cNvPr>
          <p:cNvSpPr/>
          <p:nvPr/>
        </p:nvSpPr>
        <p:spPr>
          <a:xfrm>
            <a:off x="5131124" y="9037827"/>
            <a:ext cx="2922393" cy="192695"/>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chemeClr val="bg2">
                    <a:lumMod val="10000"/>
                  </a:schemeClr>
                </a:solidFill>
                <a:latin typeface="Source Sans Pro" panose="020B0503030403020204" pitchFamily="34" charset="0"/>
                <a:ea typeface="Source Sans Pro" panose="020B0503030403020204" pitchFamily="34" charset="0"/>
              </a:rPr>
              <a:t>Codecov</a:t>
            </a:r>
            <a:r>
              <a:rPr lang="en-US" dirty="0">
                <a:solidFill>
                  <a:schemeClr val="bg2">
                    <a:lumMod val="10000"/>
                  </a:schemeClr>
                </a:solidFill>
                <a:latin typeface="Source Sans Pro" panose="020B0503030403020204" pitchFamily="34" charset="0"/>
                <a:ea typeface="Source Sans Pro" panose="020B0503030403020204" pitchFamily="34" charset="0"/>
              </a:rPr>
              <a:t> report</a:t>
            </a:r>
          </a:p>
        </p:txBody>
      </p:sp>
      <p:sp>
        <p:nvSpPr>
          <p:cNvPr id="1031" name="TextBox 1030">
            <a:extLst>
              <a:ext uri="{FF2B5EF4-FFF2-40B4-BE49-F238E27FC236}">
                <a16:creationId xmlns:a16="http://schemas.microsoft.com/office/drawing/2014/main" id="{4C256CAA-6C81-2838-FCC8-F92695FCE7C4}"/>
              </a:ext>
            </a:extLst>
          </p:cNvPr>
          <p:cNvSpPr txBox="1"/>
          <p:nvPr/>
        </p:nvSpPr>
        <p:spPr>
          <a:xfrm>
            <a:off x="4748283" y="8529518"/>
            <a:ext cx="3475631" cy="261610"/>
          </a:xfrm>
          <a:prstGeom prst="rect">
            <a:avLst/>
          </a:prstGeom>
          <a:noFill/>
        </p:spPr>
        <p:txBody>
          <a:bodyPr wrap="none" rtlCol="0">
            <a:spAutoFit/>
          </a:bodyPr>
          <a:lstStyle/>
          <a:p>
            <a:r>
              <a:rPr lang="en-US" sz="800" dirty="0"/>
              <a:t>Code          </a:t>
            </a:r>
            <a:r>
              <a:rPr lang="en-US" sz="1100" dirty="0"/>
              <a:t>Issues</a:t>
            </a:r>
            <a:r>
              <a:rPr lang="en-US" sz="800" dirty="0"/>
              <a:t>          </a:t>
            </a:r>
            <a:r>
              <a:rPr lang="en-US" sz="800" b="1" dirty="0"/>
              <a:t>Pull Requests</a:t>
            </a:r>
            <a:r>
              <a:rPr lang="en-US" sz="1000" b="1" dirty="0"/>
              <a:t>          </a:t>
            </a:r>
            <a:r>
              <a:rPr lang="en-US" sz="800" dirty="0"/>
              <a:t>Actions          Wiki          Security  </a:t>
            </a:r>
          </a:p>
        </p:txBody>
      </p:sp>
      <p:sp>
        <p:nvSpPr>
          <p:cNvPr id="1171"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CBF5A27E-2F79-226E-CEA9-AC3FABEB6287}"/>
              </a:ext>
            </a:extLst>
          </p:cNvPr>
          <p:cNvSpPr txBox="1"/>
          <p:nvPr/>
        </p:nvSpPr>
        <p:spPr>
          <a:xfrm>
            <a:off x="4787804" y="8731434"/>
            <a:ext cx="4080953"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Sentiment Analysis #2</a:t>
            </a:r>
            <a:endParaRPr lang="en-US" u="sng" dirty="0">
              <a:latin typeface="Source Sans Pro" panose="020B0503030403020204" pitchFamily="34" charset="0"/>
              <a:ea typeface="Source Sans Pro" panose="020B0503030403020204" pitchFamily="34" charset="0"/>
              <a:sym typeface="Source Sans Pro"/>
              <a:hlinkClick r:id="rId4"/>
            </a:endParaRPr>
          </a:p>
        </p:txBody>
      </p:sp>
      <p:sp>
        <p:nvSpPr>
          <p:cNvPr id="1176"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602C2091-184B-A822-FFDB-8D8345B28054}"/>
              </a:ext>
            </a:extLst>
          </p:cNvPr>
          <p:cNvSpPr txBox="1"/>
          <p:nvPr/>
        </p:nvSpPr>
        <p:spPr>
          <a:xfrm>
            <a:off x="5185201" y="9306718"/>
            <a:ext cx="2922392"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900" b="0" dirty="0">
                <a:sym typeface="Source Sans Pro Light"/>
              </a:rPr>
              <a:t>Lorem ipsum dolor sit </a:t>
            </a:r>
            <a:r>
              <a:rPr lang="en-US" sz="900" b="0" dirty="0" err="1">
                <a:sym typeface="Source Sans Pro Light"/>
              </a:rPr>
              <a:t>amet</a:t>
            </a:r>
            <a:r>
              <a:rPr lang="en-US" sz="900" b="0" dirty="0">
                <a:sym typeface="Source Sans Pro Light"/>
              </a:rPr>
              <a:t>, </a:t>
            </a:r>
            <a:r>
              <a:rPr lang="en-US" sz="900" b="0" dirty="0" err="1">
                <a:sym typeface="Source Sans Pro Light"/>
              </a:rPr>
              <a:t>consectetur</a:t>
            </a:r>
            <a:r>
              <a:rPr lang="en-US" sz="900" b="0" dirty="0">
                <a:sym typeface="Source Sans Pro Light"/>
              </a:rPr>
              <a:t> </a:t>
            </a:r>
            <a:r>
              <a:rPr lang="en-US" sz="900" b="0" dirty="0" err="1">
                <a:sym typeface="Source Sans Pro Light"/>
              </a:rPr>
              <a:t>adipiscing</a:t>
            </a:r>
            <a:r>
              <a:rPr lang="en-US" sz="900" b="0" dirty="0">
                <a:sym typeface="Source Sans Pro Light"/>
              </a:rPr>
              <a:t> </a:t>
            </a:r>
            <a:r>
              <a:rPr lang="en-US" sz="900" b="0" dirty="0" err="1">
                <a:sym typeface="Source Sans Pro Light"/>
              </a:rPr>
              <a:t>elit</a:t>
            </a:r>
            <a:r>
              <a:rPr lang="en-US" sz="900" b="0" dirty="0">
                <a:sym typeface="Source Sans Pro Light"/>
              </a:rPr>
              <a:t>, sed do </a:t>
            </a:r>
            <a:r>
              <a:rPr lang="en-US" sz="900" b="0" dirty="0" err="1">
                <a:sym typeface="Source Sans Pro Light"/>
              </a:rPr>
              <a:t>eiusmod</a:t>
            </a:r>
            <a:r>
              <a:rPr lang="en-US" sz="900" b="0" dirty="0">
                <a:sym typeface="Source Sans Pro Light"/>
              </a:rPr>
              <a:t> </a:t>
            </a:r>
            <a:r>
              <a:rPr lang="en-US" sz="900" b="0" dirty="0" err="1">
                <a:sym typeface="Source Sans Pro Light"/>
              </a:rPr>
              <a:t>tempor</a:t>
            </a:r>
            <a:r>
              <a:rPr lang="en-US" sz="900" b="0" dirty="0">
                <a:sym typeface="Source Sans Pro Light"/>
              </a:rPr>
              <a:t> </a:t>
            </a:r>
            <a:r>
              <a:rPr lang="en-US" sz="900" b="0" dirty="0" err="1">
                <a:sym typeface="Source Sans Pro Light"/>
              </a:rPr>
              <a:t>incididunt</a:t>
            </a:r>
            <a:r>
              <a:rPr lang="en-US" sz="900" b="0" dirty="0">
                <a:sym typeface="Source Sans Pro Light"/>
              </a:rPr>
              <a:t> </a:t>
            </a:r>
            <a:r>
              <a:rPr lang="en-US" sz="900" b="0" dirty="0" err="1">
                <a:sym typeface="Source Sans Pro Light"/>
              </a:rPr>
              <a:t>ut</a:t>
            </a:r>
            <a:r>
              <a:rPr lang="en-US" sz="900" b="0" dirty="0">
                <a:sym typeface="Source Sans Pro Light"/>
              </a:rPr>
              <a:t> labore et dolore magna </a:t>
            </a:r>
            <a:r>
              <a:rPr lang="en-US" sz="900" b="0" dirty="0" err="1">
                <a:sym typeface="Source Sans Pro Light"/>
              </a:rPr>
              <a:t>aliqua</a:t>
            </a:r>
            <a:r>
              <a:rPr lang="en-US" sz="900" b="0" dirty="0">
                <a:sym typeface="Source Sans Pro Light"/>
              </a:rPr>
              <a:t>. Ut </a:t>
            </a:r>
            <a:r>
              <a:rPr lang="en-US" sz="900" b="0" dirty="0" err="1">
                <a:sym typeface="Source Sans Pro Light"/>
              </a:rPr>
              <a:t>enim</a:t>
            </a:r>
            <a:r>
              <a:rPr lang="en-US" sz="900" b="0" dirty="0">
                <a:sym typeface="Source Sans Pro Light"/>
              </a:rPr>
              <a:t> ad minim </a:t>
            </a:r>
            <a:r>
              <a:rPr lang="en-US" sz="900" b="0" dirty="0" err="1">
                <a:sym typeface="Source Sans Pro Light"/>
              </a:rPr>
              <a:t>veniam</a:t>
            </a:r>
            <a:r>
              <a:rPr lang="en-US" sz="900" b="0" dirty="0">
                <a:sym typeface="Source Sans Pro Light"/>
              </a:rPr>
              <a:t>, </a:t>
            </a:r>
            <a:r>
              <a:rPr lang="en-US" sz="900" b="0" dirty="0" err="1">
                <a:sym typeface="Source Sans Pro Light"/>
              </a:rPr>
              <a:t>quis</a:t>
            </a:r>
            <a:r>
              <a:rPr lang="en-US" sz="900" b="0" dirty="0">
                <a:sym typeface="Source Sans Pro Light"/>
              </a:rPr>
              <a:t> </a:t>
            </a:r>
            <a:r>
              <a:rPr lang="en-US" sz="900" b="0" dirty="0" err="1">
                <a:sym typeface="Source Sans Pro Light"/>
              </a:rPr>
              <a:t>nostrud</a:t>
            </a:r>
            <a:r>
              <a:rPr lang="en-US" sz="900" b="0" dirty="0">
                <a:sym typeface="Source Sans Pro Light"/>
              </a:rPr>
              <a:t> exercitation </a:t>
            </a:r>
            <a:r>
              <a:rPr lang="en-US" sz="900" b="0" dirty="0" err="1">
                <a:sym typeface="Source Sans Pro Light"/>
              </a:rPr>
              <a:t>ullamco</a:t>
            </a:r>
            <a:r>
              <a:rPr lang="en-US" sz="900" b="0" dirty="0">
                <a:sym typeface="Source Sans Pro Light"/>
              </a:rPr>
              <a:t> </a:t>
            </a:r>
            <a:r>
              <a:rPr lang="en-US" sz="900" b="0" dirty="0" err="1">
                <a:sym typeface="Source Sans Pro Light"/>
              </a:rPr>
              <a:t>laboris</a:t>
            </a:r>
            <a:r>
              <a:rPr lang="en-US" sz="900" b="0" dirty="0">
                <a:sym typeface="Source Sans Pro Light"/>
              </a:rPr>
              <a:t> nisi </a:t>
            </a:r>
            <a:r>
              <a:rPr lang="en-US" sz="900" b="0" dirty="0" err="1">
                <a:sym typeface="Source Sans Pro Light"/>
              </a:rPr>
              <a:t>ut</a:t>
            </a:r>
            <a:r>
              <a:rPr lang="en-US" sz="900" b="0" dirty="0">
                <a:sym typeface="Source Sans Pro Light"/>
              </a:rPr>
              <a:t> </a:t>
            </a:r>
            <a:r>
              <a:rPr lang="en-US" sz="900" b="0" dirty="0" err="1">
                <a:sym typeface="Source Sans Pro Light"/>
              </a:rPr>
              <a:t>aliquip</a:t>
            </a:r>
            <a:r>
              <a:rPr lang="en-US" sz="900" b="0" dirty="0">
                <a:sym typeface="Source Sans Pro Light"/>
              </a:rPr>
              <a:t> ex </a:t>
            </a:r>
            <a:r>
              <a:rPr lang="en-US" sz="900" b="0" dirty="0" err="1">
                <a:sym typeface="Source Sans Pro Light"/>
              </a:rPr>
              <a:t>ea</a:t>
            </a:r>
            <a:r>
              <a:rPr lang="en-US" sz="900" b="0" dirty="0">
                <a:sym typeface="Source Sans Pro Light"/>
              </a:rPr>
              <a:t> </a:t>
            </a:r>
            <a:r>
              <a:rPr lang="en-US" sz="900" b="0" dirty="0" err="1">
                <a:sym typeface="Source Sans Pro Light"/>
              </a:rPr>
              <a:t>commodo</a:t>
            </a:r>
            <a:r>
              <a:rPr lang="en-US" sz="900" b="0" dirty="0">
                <a:sym typeface="Source Sans Pro Light"/>
              </a:rPr>
              <a:t> </a:t>
            </a:r>
            <a:r>
              <a:rPr lang="en-US" sz="900" b="0" dirty="0" err="1">
                <a:sym typeface="Source Sans Pro Light"/>
              </a:rPr>
              <a:t>consequat</a:t>
            </a:r>
            <a:r>
              <a:rPr lang="en-US" sz="900" b="0" dirty="0">
                <a:sym typeface="Source Sans Pro Light"/>
              </a:rPr>
              <a:t>.</a:t>
            </a:r>
            <a:endParaRPr lang="en-US" sz="900" u="sng" dirty="0">
              <a:latin typeface="Source Sans Pro"/>
              <a:ea typeface="Source Sans Pro"/>
              <a:cs typeface="Source Sans Pro"/>
              <a:sym typeface="Source Sans Pro"/>
              <a:hlinkClick r:id="rId4"/>
            </a:endParaRPr>
          </a:p>
        </p:txBody>
      </p:sp>
      <p:cxnSp>
        <p:nvCxnSpPr>
          <p:cNvPr id="1177" name="Straight Connector 1176">
            <a:extLst>
              <a:ext uri="{FF2B5EF4-FFF2-40B4-BE49-F238E27FC236}">
                <a16:creationId xmlns:a16="http://schemas.microsoft.com/office/drawing/2014/main" id="{52045CC3-A26F-8B89-C415-63B3E884DB30}"/>
              </a:ext>
            </a:extLst>
          </p:cNvPr>
          <p:cNvCxnSpPr>
            <a:cxnSpLocks/>
            <a:endCxn id="1180" idx="1"/>
          </p:cNvCxnSpPr>
          <p:nvPr/>
        </p:nvCxnSpPr>
        <p:spPr>
          <a:xfrm>
            <a:off x="6350942" y="9175504"/>
            <a:ext cx="1963035" cy="6614"/>
          </a:xfrm>
          <a:prstGeom prst="line">
            <a:avLst/>
          </a:prstGeom>
          <a:noFill/>
          <a:ln w="190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179" name="Line">
            <a:extLst>
              <a:ext uri="{FF2B5EF4-FFF2-40B4-BE49-F238E27FC236}">
                <a16:creationId xmlns:a16="http://schemas.microsoft.com/office/drawing/2014/main" id="{5E0399C7-4E6F-A11A-82AC-1FD7AE9E53CD}"/>
              </a:ext>
            </a:extLst>
          </p:cNvPr>
          <p:cNvSpPr/>
          <p:nvPr/>
        </p:nvSpPr>
        <p:spPr>
          <a:xfrm flipV="1">
            <a:off x="4740889" y="8758848"/>
            <a:ext cx="3305841" cy="697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180"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5447AC30-44AC-45D4-6C44-F025713FDA97}"/>
              </a:ext>
            </a:extLst>
          </p:cNvPr>
          <p:cNvSpPr txBox="1"/>
          <p:nvPr/>
        </p:nvSpPr>
        <p:spPr>
          <a:xfrm>
            <a:off x="8313977" y="9043915"/>
            <a:ext cx="1236610"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cs typeface="Arial" panose="020B0604020202020204" pitchFamily="34" charset="0"/>
              </a:rPr>
              <a:t>A</a:t>
            </a:r>
            <a:r>
              <a:rPr lang="en-US" dirty="0">
                <a:latin typeface="Source Sans Pro" panose="020B0503030403020204" pitchFamily="34" charset="0"/>
                <a:ea typeface="Source Sans Pro" panose="020B0503030403020204" pitchFamily="34" charset="0"/>
                <a:cs typeface="Arial" panose="020B0604020202020204" pitchFamily="34" charset="0"/>
                <a:sym typeface="Source Sans Pro"/>
              </a:rPr>
              <a:t>uthor</a:t>
            </a:r>
            <a:endParaRPr lang="en-US" u="sng" dirty="0">
              <a:latin typeface="Source Sans Pro" panose="020B0503030403020204" pitchFamily="34" charset="0"/>
              <a:ea typeface="Source Sans Pro" panose="020B0503030403020204" pitchFamily="34" charset="0"/>
              <a:cs typeface="Arial" panose="020B0604020202020204" pitchFamily="34" charset="0"/>
              <a:sym typeface="Source Sans Pro"/>
              <a:hlinkClick r:id="rId4"/>
            </a:endParaRPr>
          </a:p>
        </p:txBody>
      </p:sp>
      <p:cxnSp>
        <p:nvCxnSpPr>
          <p:cNvPr id="1181" name="Straight Connector 1180">
            <a:extLst>
              <a:ext uri="{FF2B5EF4-FFF2-40B4-BE49-F238E27FC236}">
                <a16:creationId xmlns:a16="http://schemas.microsoft.com/office/drawing/2014/main" id="{4AECE02E-485A-DDD2-999C-CF986FEE7F9D}"/>
              </a:ext>
            </a:extLst>
          </p:cNvPr>
          <p:cNvCxnSpPr>
            <a:cxnSpLocks/>
          </p:cNvCxnSpPr>
          <p:nvPr/>
        </p:nvCxnSpPr>
        <p:spPr>
          <a:xfrm>
            <a:off x="6327678" y="8845853"/>
            <a:ext cx="1979705" cy="0"/>
          </a:xfrm>
          <a:prstGeom prst="line">
            <a:avLst/>
          </a:prstGeom>
          <a:noFill/>
          <a:ln w="190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183"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1959C84D-40BC-0AE1-DB7C-E193026522A2}"/>
              </a:ext>
            </a:extLst>
          </p:cNvPr>
          <p:cNvSpPr txBox="1"/>
          <p:nvPr/>
        </p:nvSpPr>
        <p:spPr>
          <a:xfrm>
            <a:off x="8313977" y="8721620"/>
            <a:ext cx="1941976"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cs typeface="Arial" panose="020B0604020202020204" pitchFamily="34" charset="0"/>
              </a:rPr>
              <a:t>S</a:t>
            </a:r>
            <a:r>
              <a:rPr lang="en-US" dirty="0">
                <a:latin typeface="Source Sans Pro" panose="020B0503030403020204" pitchFamily="34" charset="0"/>
                <a:ea typeface="Source Sans Pro" panose="020B0503030403020204" pitchFamily="34" charset="0"/>
                <a:cs typeface="Arial" panose="020B0604020202020204" pitchFamily="34" charset="0"/>
                <a:sym typeface="Source Sans Pro"/>
              </a:rPr>
              <a:t>ubject</a:t>
            </a:r>
            <a:endParaRPr lang="en-US" u="sng" dirty="0">
              <a:latin typeface="Source Sans Pro" panose="020B0503030403020204" pitchFamily="34" charset="0"/>
              <a:ea typeface="Source Sans Pro" panose="020B0503030403020204" pitchFamily="34" charset="0"/>
              <a:cs typeface="Arial" panose="020B0604020202020204" pitchFamily="34" charset="0"/>
              <a:sym typeface="Source Sans Pro"/>
              <a:hlinkClick r:id="rId4"/>
            </a:endParaRPr>
          </a:p>
        </p:txBody>
      </p:sp>
      <p:cxnSp>
        <p:nvCxnSpPr>
          <p:cNvPr id="1184" name="Straight Connector 1183">
            <a:extLst>
              <a:ext uri="{FF2B5EF4-FFF2-40B4-BE49-F238E27FC236}">
                <a16:creationId xmlns:a16="http://schemas.microsoft.com/office/drawing/2014/main" id="{290C679F-8164-E53F-180D-3F0212A9C5A3}"/>
              </a:ext>
            </a:extLst>
          </p:cNvPr>
          <p:cNvCxnSpPr>
            <a:cxnSpLocks/>
          </p:cNvCxnSpPr>
          <p:nvPr/>
        </p:nvCxnSpPr>
        <p:spPr>
          <a:xfrm>
            <a:off x="7894447" y="9552989"/>
            <a:ext cx="412936" cy="0"/>
          </a:xfrm>
          <a:prstGeom prst="line">
            <a:avLst/>
          </a:prstGeom>
          <a:noFill/>
          <a:ln w="190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186"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30B121E2-72D2-F3C8-8AEF-9A14E31F84C0}"/>
              </a:ext>
            </a:extLst>
          </p:cNvPr>
          <p:cNvSpPr txBox="1"/>
          <p:nvPr/>
        </p:nvSpPr>
        <p:spPr>
          <a:xfrm>
            <a:off x="8313977" y="9444150"/>
            <a:ext cx="1941976"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cs typeface="Arial" panose="020B0604020202020204" pitchFamily="34" charset="0"/>
              </a:rPr>
              <a:t>B</a:t>
            </a:r>
            <a:r>
              <a:rPr lang="en-US" dirty="0">
                <a:latin typeface="Source Sans Pro" panose="020B0503030403020204" pitchFamily="34" charset="0"/>
                <a:ea typeface="Source Sans Pro" panose="020B0503030403020204" pitchFamily="34" charset="0"/>
                <a:cs typeface="Arial" panose="020B0604020202020204" pitchFamily="34" charset="0"/>
                <a:sym typeface="Source Sans Pro"/>
              </a:rPr>
              <a:t>ody</a:t>
            </a:r>
            <a:endParaRPr lang="en-US" u="sng" dirty="0">
              <a:latin typeface="Source Sans Pro" panose="020B0503030403020204" pitchFamily="34" charset="0"/>
              <a:ea typeface="Source Sans Pro" panose="020B0503030403020204" pitchFamily="34" charset="0"/>
              <a:cs typeface="Arial" panose="020B0604020202020204" pitchFamily="34" charset="0"/>
              <a:sym typeface="Source Sans Pro"/>
              <a:hlinkClick r:id="rId4"/>
            </a:endParaRPr>
          </a:p>
        </p:txBody>
      </p:sp>
      <p:sp>
        <p:nvSpPr>
          <p:cNvPr id="1188" name="KEYNOTE">
            <a:extLst>
              <a:ext uri="{FF2B5EF4-FFF2-40B4-BE49-F238E27FC236}">
                <a16:creationId xmlns:a16="http://schemas.microsoft.com/office/drawing/2014/main" id="{4E391212-594C-0A61-A095-2BCD296E9576}"/>
              </a:ext>
            </a:extLst>
          </p:cNvPr>
          <p:cNvSpPr txBox="1"/>
          <p:nvPr/>
        </p:nvSpPr>
        <p:spPr>
          <a:xfrm>
            <a:off x="9592056" y="3580378"/>
            <a:ext cx="4168576" cy="2410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400" dirty="0" err="1">
                <a:solidFill>
                  <a:schemeClr val="tx1"/>
                </a:solidFill>
                <a:latin typeface="Source Sans Pro" panose="020B0503030403020204" pitchFamily="34" charset="0"/>
                <a:ea typeface="Source Sans Pro" panose="020B0503030403020204" pitchFamily="34" charset="0"/>
              </a:rPr>
              <a:t>replace_token_regex_with</a:t>
            </a:r>
            <a:r>
              <a:rPr lang="en-US" sz="1400" dirty="0">
                <a:solidFill>
                  <a:schemeClr val="tx1"/>
                </a:solidFill>
                <a:latin typeface="Source Sans Pro" panose="020B0503030403020204" pitchFamily="34" charset="0"/>
                <a:ea typeface="Source Sans Pro" panose="020B0503030403020204" pitchFamily="34" charset="0"/>
              </a:rPr>
              <a:t>()</a:t>
            </a:r>
            <a:endParaRPr sz="1400" dirty="0">
              <a:solidFill>
                <a:schemeClr val="tx1"/>
              </a:solidFill>
              <a:latin typeface="Source Sans Pro" panose="020B0503030403020204" pitchFamily="34" charset="0"/>
              <a:ea typeface="Source Sans Pro" panose="020B0503030403020204" pitchFamily="34" charset="0"/>
            </a:endParaRPr>
          </a:p>
        </p:txBody>
      </p:sp>
      <p:sp>
        <p:nvSpPr>
          <p:cNvPr id="1189" name="Use headers, colors, and/or backgrounds to separate or group together sections.">
            <a:extLst>
              <a:ext uri="{FF2B5EF4-FFF2-40B4-BE49-F238E27FC236}">
                <a16:creationId xmlns:a16="http://schemas.microsoft.com/office/drawing/2014/main" id="{22612EAC-613C-0228-AC11-2AE8D4785CC2}"/>
              </a:ext>
            </a:extLst>
          </p:cNvPr>
          <p:cNvSpPr txBox="1"/>
          <p:nvPr/>
        </p:nvSpPr>
        <p:spPr>
          <a:xfrm>
            <a:off x="9546336" y="3821470"/>
            <a:ext cx="3949153" cy="7394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Replaces text matching given regex patterns with standardized token placeholders (</a:t>
            </a:r>
            <a:r>
              <a:rPr lang="en-US" b="0" dirty="0" err="1">
                <a:latin typeface="Source Sans Pro" panose="020B0503030403020204" pitchFamily="34" charset="0"/>
                <a:ea typeface="Source Sans Pro" panose="020B0503030403020204" pitchFamily="34" charset="0"/>
                <a:cs typeface="Arial" panose="020B0604020202020204" pitchFamily="34" charset="0"/>
              </a:rPr>
              <a:t>e.g</a:t>
            </a:r>
            <a:r>
              <a:rPr lang="en-US" b="0" dirty="0">
                <a:latin typeface="Source Sans Pro" panose="020B0503030403020204" pitchFamily="34" charset="0"/>
                <a:ea typeface="Source Sans Pro" panose="020B0503030403020204" pitchFamily="34" charset="0"/>
                <a:cs typeface="Arial" panose="020B0604020202020204" pitchFamily="34" charset="0"/>
              </a:rPr>
              <a:t>, MURL replaces </a:t>
            </a:r>
            <a:r>
              <a:rPr lang="en-US" b="0" dirty="0">
                <a:latin typeface="Source Sans Pro" panose="020B0503030403020204" pitchFamily="34" charset="0"/>
                <a:ea typeface="Source Sans Pro" panose="020B0503030403020204" pitchFamily="34" charset="0"/>
                <a:cs typeface="Arial" panose="020B0604020202020204" pitchFamily="34" charset="0"/>
                <a:hlinkClick r:id="rId9"/>
              </a:rPr>
              <a:t>https://example.com</a:t>
            </a:r>
            <a:r>
              <a:rPr lang="en-US" b="0" dirty="0">
                <a:latin typeface="Source Sans Pro" panose="020B0503030403020204" pitchFamily="34" charset="0"/>
                <a:ea typeface="Source Sans Pro" panose="020B0503030403020204" pitchFamily="34" charset="0"/>
                <a:cs typeface="Arial" panose="020B0604020202020204" pitchFamily="34" charset="0"/>
              </a:rPr>
              <a:t>, MEMAIL replaces </a:t>
            </a:r>
            <a:r>
              <a:rPr lang="en-US" b="0" dirty="0">
                <a:latin typeface="Source Sans Pro" panose="020B0503030403020204" pitchFamily="34" charset="0"/>
                <a:ea typeface="Source Sans Pro" panose="020B0503030403020204" pitchFamily="34" charset="0"/>
                <a:cs typeface="Arial" panose="020B0604020202020204" pitchFamily="34" charset="0"/>
                <a:hlinkClick r:id="rId10"/>
              </a:rPr>
              <a:t>user@example.com</a:t>
            </a:r>
            <a:r>
              <a:rPr lang="en-US" b="0" dirty="0">
                <a:latin typeface="Source Sans Pro" panose="020B0503030403020204" pitchFamily="34" charset="0"/>
                <a:ea typeface="Source Sans Pro" panose="020B0503030403020204" pitchFamily="34" charset="0"/>
                <a:cs typeface="Arial" panose="020B0604020202020204" pitchFamily="34" charset="0"/>
              </a:rPr>
              <a:t>, etc.)</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190" name="KEYNOTE">
            <a:extLst>
              <a:ext uri="{FF2B5EF4-FFF2-40B4-BE49-F238E27FC236}">
                <a16:creationId xmlns:a16="http://schemas.microsoft.com/office/drawing/2014/main" id="{E7719E7B-BFE2-E6FB-811D-CA46A0E1B667}"/>
              </a:ext>
            </a:extLst>
          </p:cNvPr>
          <p:cNvSpPr txBox="1"/>
          <p:nvPr/>
        </p:nvSpPr>
        <p:spPr>
          <a:xfrm>
            <a:off x="9592056" y="5356449"/>
            <a:ext cx="4168576" cy="4565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400" dirty="0" err="1">
                <a:solidFill>
                  <a:schemeClr val="tx1"/>
                </a:solidFill>
                <a:latin typeface="Source Sans Pro" panose="020B0503030403020204" pitchFamily="34" charset="0"/>
                <a:ea typeface="Source Sans Pro" panose="020B0503030403020204" pitchFamily="34" charset="0"/>
              </a:rPr>
              <a:t>filter_text</a:t>
            </a:r>
            <a:r>
              <a:rPr lang="en-US" sz="1400" dirty="0">
                <a:solidFill>
                  <a:schemeClr val="tx1"/>
                </a:solidFill>
                <a:latin typeface="Source Sans Pro" panose="020B0503030403020204" pitchFamily="34" charset="0"/>
                <a:ea typeface="Source Sans Pro" panose="020B0503030403020204" pitchFamily="34" charset="0"/>
              </a:rPr>
              <a:t>_&lt;</a:t>
            </a:r>
            <a:r>
              <a:rPr lang="en-US" sz="1400" dirty="0" err="1">
                <a:solidFill>
                  <a:schemeClr val="tx1"/>
                </a:solidFill>
                <a:latin typeface="Source Sans Pro" panose="020B0503030403020204" pitchFamily="34" charset="0"/>
                <a:ea typeface="Source Sans Pro" panose="020B0503030403020204" pitchFamily="34" charset="0"/>
              </a:rPr>
              <a:t>punctuation|markdown|newlines|whitespace</a:t>
            </a:r>
            <a:r>
              <a:rPr lang="en-US" sz="1400" dirty="0">
                <a:solidFill>
                  <a:schemeClr val="tx1"/>
                </a:solidFill>
                <a:latin typeface="Source Sans Pro" panose="020B0503030403020204" pitchFamily="34" charset="0"/>
                <a:ea typeface="Source Sans Pro" panose="020B0503030403020204" pitchFamily="34" charset="0"/>
              </a:rPr>
              <a:t>|(</a:t>
            </a:r>
            <a:r>
              <a:rPr lang="en-US" sz="1400" dirty="0" err="1">
                <a:solidFill>
                  <a:schemeClr val="tx1"/>
                </a:solidFill>
                <a:latin typeface="Source Sans Pro" panose="020B0503030403020204" pitchFamily="34" charset="0"/>
                <a:ea typeface="Source Sans Pro" panose="020B0503030403020204" pitchFamily="34" charset="0"/>
              </a:rPr>
              <a:t>quoted_lines</a:t>
            </a:r>
            <a:r>
              <a:rPr lang="en-US" sz="1400" dirty="0">
                <a:solidFill>
                  <a:schemeClr val="tx1"/>
                </a:solidFill>
                <a:latin typeface="Source Sans Pro" panose="020B0503030403020204" pitchFamily="34" charset="0"/>
                <a:ea typeface="Source Sans Pro" panose="020B0503030403020204" pitchFamily="34" charset="0"/>
              </a:rPr>
              <a:t>)|(</a:t>
            </a:r>
            <a:r>
              <a:rPr lang="en-US" sz="1400" dirty="0" err="1">
                <a:solidFill>
                  <a:schemeClr val="tx1"/>
                </a:solidFill>
                <a:latin typeface="Source Sans Pro" panose="020B0503030403020204" pitchFamily="34" charset="0"/>
                <a:ea typeface="Source Sans Pro" panose="020B0503030403020204" pitchFamily="34" charset="0"/>
              </a:rPr>
              <a:t>github_header</a:t>
            </a:r>
            <a:r>
              <a:rPr lang="en-US" sz="1400" dirty="0">
                <a:solidFill>
                  <a:schemeClr val="tx1"/>
                </a:solidFill>
                <a:latin typeface="Source Sans Pro" panose="020B0503030403020204" pitchFamily="34" charset="0"/>
                <a:ea typeface="Source Sans Pro" panose="020B0503030403020204" pitchFamily="34" charset="0"/>
              </a:rPr>
              <a:t>)&gt;</a:t>
            </a:r>
            <a:endParaRPr sz="1400" dirty="0">
              <a:solidFill>
                <a:schemeClr val="tx1"/>
              </a:solidFill>
              <a:latin typeface="Source Sans Pro" panose="020B0503030403020204" pitchFamily="34" charset="0"/>
              <a:ea typeface="Source Sans Pro" panose="020B0503030403020204" pitchFamily="34" charset="0"/>
            </a:endParaRPr>
          </a:p>
        </p:txBody>
      </p:sp>
      <p:sp>
        <p:nvSpPr>
          <p:cNvPr id="1191" name="Use headers, colors, and/or backgrounds to separate or group together sections.">
            <a:extLst>
              <a:ext uri="{FF2B5EF4-FFF2-40B4-BE49-F238E27FC236}">
                <a16:creationId xmlns:a16="http://schemas.microsoft.com/office/drawing/2014/main" id="{EFB4ADED-B72B-D7DF-B5E4-2CC18320CF25}"/>
              </a:ext>
            </a:extLst>
          </p:cNvPr>
          <p:cNvSpPr txBox="1"/>
          <p:nvPr/>
        </p:nvSpPr>
        <p:spPr>
          <a:xfrm>
            <a:off x="9546336" y="5826520"/>
            <a:ext cx="3949153" cy="426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Text-cleaning functions that remove text content and convert markdown to plain text.</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196" name="KEYNOTE">
            <a:extLst>
              <a:ext uri="{FF2B5EF4-FFF2-40B4-BE49-F238E27FC236}">
                <a16:creationId xmlns:a16="http://schemas.microsoft.com/office/drawing/2014/main" id="{0F564324-05B8-5B4A-96B2-2023BFA54098}"/>
              </a:ext>
            </a:extLst>
          </p:cNvPr>
          <p:cNvSpPr txBox="1"/>
          <p:nvPr/>
        </p:nvSpPr>
        <p:spPr>
          <a:xfrm>
            <a:off x="9592056" y="6900609"/>
            <a:ext cx="4168576" cy="2410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400" dirty="0" err="1">
                <a:solidFill>
                  <a:schemeClr val="tx1"/>
                </a:solidFill>
                <a:latin typeface="Source Sans Pro" panose="020B0503030403020204" pitchFamily="34" charset="0"/>
                <a:ea typeface="Source Sans Pro" panose="020B0503030403020204" pitchFamily="34" charset="0"/>
              </a:rPr>
              <a:t>pysenti_train_model</a:t>
            </a:r>
            <a:r>
              <a:rPr lang="en-US" sz="1400" dirty="0">
                <a:solidFill>
                  <a:schemeClr val="tx1"/>
                </a:solidFill>
                <a:latin typeface="Source Sans Pro" panose="020B0503030403020204" pitchFamily="34" charset="0"/>
                <a:ea typeface="Source Sans Pro" panose="020B0503030403020204" pitchFamily="34" charset="0"/>
              </a:rPr>
              <a:t>(</a:t>
            </a:r>
            <a:r>
              <a:rPr lang="en-US" sz="1400" dirty="0" err="1">
                <a:solidFill>
                  <a:schemeClr val="tx1"/>
                </a:solidFill>
                <a:latin typeface="Source Sans Pro" panose="020B0503030403020204" pitchFamily="34" charset="0"/>
                <a:ea typeface="Source Sans Pro" panose="020B0503030403020204" pitchFamily="34" charset="0"/>
              </a:rPr>
              <a:t>pysenti_path</a:t>
            </a:r>
            <a:r>
              <a:rPr lang="en-US" sz="1400" dirty="0">
                <a:solidFill>
                  <a:schemeClr val="tx1"/>
                </a:solidFill>
                <a:latin typeface="Source Sans Pro" panose="020B0503030403020204" pitchFamily="34" charset="0"/>
                <a:ea typeface="Source Sans Pro" panose="020B0503030403020204" pitchFamily="34" charset="0"/>
              </a:rPr>
              <a:t>,…)</a:t>
            </a:r>
            <a:endParaRPr sz="1400" dirty="0">
              <a:solidFill>
                <a:schemeClr val="tx1"/>
              </a:solidFill>
              <a:latin typeface="Source Sans Pro" panose="020B0503030403020204" pitchFamily="34" charset="0"/>
              <a:ea typeface="Source Sans Pro" panose="020B0503030403020204" pitchFamily="34" charset="0"/>
            </a:endParaRPr>
          </a:p>
        </p:txBody>
      </p:sp>
      <p:sp>
        <p:nvSpPr>
          <p:cNvPr id="1197" name="Use headers, colors, and/or backgrounds to separate or group together sections.">
            <a:extLst>
              <a:ext uri="{FF2B5EF4-FFF2-40B4-BE49-F238E27FC236}">
                <a16:creationId xmlns:a16="http://schemas.microsoft.com/office/drawing/2014/main" id="{176A37C1-9157-8B80-2CCD-09EBA9A38190}"/>
              </a:ext>
            </a:extLst>
          </p:cNvPr>
          <p:cNvSpPr txBox="1"/>
          <p:nvPr/>
        </p:nvSpPr>
        <p:spPr>
          <a:xfrm>
            <a:off x="9357947" y="6957618"/>
            <a:ext cx="3949153" cy="426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lvl="0">
              <a:lnSpc>
                <a:spcPct val="90000"/>
              </a:lnSpc>
              <a:buSzPts val="3700"/>
            </a:pPr>
            <a:endParaRPr lang="en-US" b="0" u="sng" dirty="0">
              <a:solidFill>
                <a:schemeClr val="hlink"/>
              </a:solidFill>
              <a:latin typeface="Arial" panose="020B0604020202020204" pitchFamily="34" charset="0"/>
              <a:cs typeface="Arial" panose="020B0604020202020204" pitchFamily="34" charset="0"/>
              <a:hlinkClick r:id="rId4"/>
            </a:endParaRPr>
          </a:p>
        </p:txBody>
      </p:sp>
      <p:sp>
        <p:nvSpPr>
          <p:cNvPr id="1198" name="Use headers, colors, and/or backgrounds to separate or group together sections.">
            <a:extLst>
              <a:ext uri="{FF2B5EF4-FFF2-40B4-BE49-F238E27FC236}">
                <a16:creationId xmlns:a16="http://schemas.microsoft.com/office/drawing/2014/main" id="{604336D1-575C-2E4E-4217-767AC5859BFA}"/>
              </a:ext>
            </a:extLst>
          </p:cNvPr>
          <p:cNvSpPr txBox="1"/>
          <p:nvPr/>
        </p:nvSpPr>
        <p:spPr>
          <a:xfrm>
            <a:off x="9546336" y="8728000"/>
            <a:ext cx="3949153" cy="426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Loads a </a:t>
            </a:r>
            <a:r>
              <a:rPr lang="en-US" b="0" dirty="0" err="1">
                <a:latin typeface="Source Sans Pro" panose="020B0503030403020204" pitchFamily="34" charset="0"/>
                <a:ea typeface="Source Sans Pro" panose="020B0503030403020204" pitchFamily="34" charset="0"/>
                <a:cs typeface="Arial" panose="020B0604020202020204" pitchFamily="34" charset="0"/>
              </a:rPr>
              <a:t>pysenti</a:t>
            </a:r>
            <a:r>
              <a:rPr lang="en-US" b="0" dirty="0">
                <a:latin typeface="Source Sans Pro" panose="020B0503030403020204" pitchFamily="34" charset="0"/>
                <a:ea typeface="Source Sans Pro" panose="020B0503030403020204" pitchFamily="34" charset="0"/>
                <a:cs typeface="Arial" panose="020B0604020202020204" pitchFamily="34" charset="0"/>
              </a:rPr>
              <a:t> saved model weights to classify the sentiment of a data table’s unlabeled comments and returns a data table with comment’s classified sentiments.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199" name="KEYNOTE">
            <a:extLst>
              <a:ext uri="{FF2B5EF4-FFF2-40B4-BE49-F238E27FC236}">
                <a16:creationId xmlns:a16="http://schemas.microsoft.com/office/drawing/2014/main" id="{93935D65-7057-036E-4F86-6FADF798E562}"/>
              </a:ext>
            </a:extLst>
          </p:cNvPr>
          <p:cNvSpPr txBox="1"/>
          <p:nvPr/>
        </p:nvSpPr>
        <p:spPr>
          <a:xfrm>
            <a:off x="9592056" y="8518759"/>
            <a:ext cx="4168576" cy="2410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400" dirty="0" err="1">
                <a:solidFill>
                  <a:schemeClr val="tx1"/>
                </a:solidFill>
                <a:latin typeface="Source Sans Pro" panose="020B0503030403020204" pitchFamily="34" charset="0"/>
                <a:ea typeface="Source Sans Pro" panose="020B0503030403020204" pitchFamily="34" charset="0"/>
              </a:rPr>
              <a:t>pysenti_predict</a:t>
            </a:r>
            <a:r>
              <a:rPr lang="en-US" sz="1400" dirty="0">
                <a:solidFill>
                  <a:schemeClr val="tx1"/>
                </a:solidFill>
                <a:latin typeface="Source Sans Pro" panose="020B0503030403020204" pitchFamily="34" charset="0"/>
                <a:ea typeface="Source Sans Pro" panose="020B0503030403020204" pitchFamily="34" charset="0"/>
              </a:rPr>
              <a:t>(</a:t>
            </a:r>
            <a:r>
              <a:rPr lang="en-US" sz="1400" dirty="0" err="1">
                <a:solidFill>
                  <a:schemeClr val="tx1"/>
                </a:solidFill>
                <a:latin typeface="Source Sans Pro" panose="020B0503030403020204" pitchFamily="34" charset="0"/>
                <a:ea typeface="Source Sans Pro" panose="020B0503030403020204" pitchFamily="34" charset="0"/>
              </a:rPr>
              <a:t>pysenti_path</a:t>
            </a:r>
            <a:r>
              <a:rPr lang="en-US" sz="1400" dirty="0">
                <a:solidFill>
                  <a:schemeClr val="tx1"/>
                </a:solidFill>
                <a:latin typeface="Source Sans Pro" panose="020B0503030403020204" pitchFamily="34" charset="0"/>
                <a:ea typeface="Source Sans Pro" panose="020B0503030403020204" pitchFamily="34" charset="0"/>
              </a:rPr>
              <a:t>,…)</a:t>
            </a:r>
            <a:endParaRPr sz="1400" dirty="0">
              <a:solidFill>
                <a:schemeClr val="tx1"/>
              </a:solidFill>
              <a:latin typeface="Source Sans Pro" panose="020B0503030403020204" pitchFamily="34" charset="0"/>
              <a:ea typeface="Source Sans Pro" panose="020B0503030403020204" pitchFamily="34" charset="0"/>
            </a:endParaRPr>
          </a:p>
        </p:txBody>
      </p:sp>
      <p:pic>
        <p:nvPicPr>
          <p:cNvPr id="1200" name="table">
            <a:extLst>
              <a:ext uri="{FF2B5EF4-FFF2-40B4-BE49-F238E27FC236}">
                <a16:creationId xmlns:a16="http://schemas.microsoft.com/office/drawing/2014/main" id="{E0409B1A-5D98-C8B6-07B8-95963D3C7E2E}"/>
              </a:ext>
            </a:extLst>
          </p:cNvPr>
          <p:cNvPicPr>
            <a:picLocks noChangeAspect="1"/>
          </p:cNvPicPr>
          <p:nvPr/>
        </p:nvPicPr>
        <p:blipFill>
          <a:blip r:embed="rId11"/>
          <a:stretch>
            <a:fillRect/>
          </a:stretch>
        </p:blipFill>
        <p:spPr>
          <a:xfrm>
            <a:off x="9994703" y="9342498"/>
            <a:ext cx="809663" cy="846872"/>
          </a:xfrm>
          <a:prstGeom prst="rect">
            <a:avLst/>
          </a:prstGeom>
        </p:spPr>
      </p:pic>
      <p:pic>
        <p:nvPicPr>
          <p:cNvPr id="1202" name="table">
            <a:extLst>
              <a:ext uri="{FF2B5EF4-FFF2-40B4-BE49-F238E27FC236}">
                <a16:creationId xmlns:a16="http://schemas.microsoft.com/office/drawing/2014/main" id="{B8073C9B-CEF1-6D58-19E0-BF5CE826294E}"/>
              </a:ext>
            </a:extLst>
          </p:cNvPr>
          <p:cNvPicPr>
            <a:picLocks noChangeAspect="1"/>
          </p:cNvPicPr>
          <p:nvPr/>
        </p:nvPicPr>
        <p:blipFill>
          <a:blip r:embed="rId11"/>
          <a:stretch>
            <a:fillRect/>
          </a:stretch>
        </p:blipFill>
        <p:spPr>
          <a:xfrm>
            <a:off x="11809478" y="9342498"/>
            <a:ext cx="809663" cy="846872"/>
          </a:xfrm>
          <a:prstGeom prst="rect">
            <a:avLst/>
          </a:prstGeom>
        </p:spPr>
      </p:pic>
      <p:pic>
        <p:nvPicPr>
          <p:cNvPr id="1203" name="Graphic 478" descr="Arrow Right outline">
            <a:extLst>
              <a:ext uri="{FF2B5EF4-FFF2-40B4-BE49-F238E27FC236}">
                <a16:creationId xmlns:a16="http://schemas.microsoft.com/office/drawing/2014/main" id="{BF0E25D6-B7DD-71AF-31A0-7225FEAEC81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121867" y="9395846"/>
            <a:ext cx="369120" cy="768630"/>
          </a:xfrm>
          <a:prstGeom prst="rect">
            <a:avLst/>
          </a:prstGeom>
        </p:spPr>
      </p:pic>
      <p:sp>
        <p:nvSpPr>
          <p:cNvPr id="1211" name="Rectangle 1210">
            <a:extLst>
              <a:ext uri="{FF2B5EF4-FFF2-40B4-BE49-F238E27FC236}">
                <a16:creationId xmlns:a16="http://schemas.microsoft.com/office/drawing/2014/main" id="{3774E364-B03A-9E55-8942-3A6F58DA3CF5}"/>
              </a:ext>
            </a:extLst>
          </p:cNvPr>
          <p:cNvSpPr/>
          <p:nvPr/>
        </p:nvSpPr>
        <p:spPr>
          <a:xfrm>
            <a:off x="12611214" y="9368407"/>
            <a:ext cx="239266" cy="145247"/>
          </a:xfrm>
          <a:prstGeom prst="rect">
            <a:avLst/>
          </a:prstGeom>
          <a:solidFill>
            <a:srgbClr val="F7DCA7"/>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212" name="Rectangle 1211">
            <a:extLst>
              <a:ext uri="{FF2B5EF4-FFF2-40B4-BE49-F238E27FC236}">
                <a16:creationId xmlns:a16="http://schemas.microsoft.com/office/drawing/2014/main" id="{20B7A7C3-45E9-8FB2-2FAF-2853C934B354}"/>
              </a:ext>
            </a:extLst>
          </p:cNvPr>
          <p:cNvSpPr/>
          <p:nvPr/>
        </p:nvSpPr>
        <p:spPr>
          <a:xfrm>
            <a:off x="12611214" y="9528711"/>
            <a:ext cx="239266" cy="145247"/>
          </a:xfrm>
          <a:prstGeom prst="rect">
            <a:avLst/>
          </a:prstGeom>
          <a:solidFill>
            <a:srgbClr val="F7DCA7"/>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213" name="Rectangle 1212">
            <a:extLst>
              <a:ext uri="{FF2B5EF4-FFF2-40B4-BE49-F238E27FC236}">
                <a16:creationId xmlns:a16="http://schemas.microsoft.com/office/drawing/2014/main" id="{5BD8C571-EC1B-2DF2-920D-CCA16E4FACCD}"/>
              </a:ext>
            </a:extLst>
          </p:cNvPr>
          <p:cNvSpPr/>
          <p:nvPr/>
        </p:nvSpPr>
        <p:spPr>
          <a:xfrm>
            <a:off x="12611214" y="9693605"/>
            <a:ext cx="239266" cy="145247"/>
          </a:xfrm>
          <a:prstGeom prst="rect">
            <a:avLst/>
          </a:prstGeom>
          <a:solidFill>
            <a:srgbClr val="F7DCA7"/>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214" name="Rectangle 1213">
            <a:extLst>
              <a:ext uri="{FF2B5EF4-FFF2-40B4-BE49-F238E27FC236}">
                <a16:creationId xmlns:a16="http://schemas.microsoft.com/office/drawing/2014/main" id="{FB067FBC-7CEF-3707-E05C-952AB12CFE4E}"/>
              </a:ext>
            </a:extLst>
          </p:cNvPr>
          <p:cNvSpPr/>
          <p:nvPr/>
        </p:nvSpPr>
        <p:spPr>
          <a:xfrm>
            <a:off x="12611214" y="9853909"/>
            <a:ext cx="239266" cy="145247"/>
          </a:xfrm>
          <a:prstGeom prst="rect">
            <a:avLst/>
          </a:prstGeom>
          <a:solidFill>
            <a:srgbClr val="F7DCA7"/>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215" name="Rectangle 1214">
            <a:extLst>
              <a:ext uri="{FF2B5EF4-FFF2-40B4-BE49-F238E27FC236}">
                <a16:creationId xmlns:a16="http://schemas.microsoft.com/office/drawing/2014/main" id="{0A7FDB87-8255-48D1-1CA2-A7E295CAFE51}"/>
              </a:ext>
            </a:extLst>
          </p:cNvPr>
          <p:cNvSpPr/>
          <p:nvPr/>
        </p:nvSpPr>
        <p:spPr>
          <a:xfrm>
            <a:off x="12611214" y="10010085"/>
            <a:ext cx="239266" cy="145247"/>
          </a:xfrm>
          <a:prstGeom prst="rect">
            <a:avLst/>
          </a:prstGeom>
          <a:solidFill>
            <a:srgbClr val="F7DCA7"/>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1216" name="Graphic 1215" descr="Thumbs up sign with solid fill">
            <a:extLst>
              <a:ext uri="{FF2B5EF4-FFF2-40B4-BE49-F238E27FC236}">
                <a16:creationId xmlns:a16="http://schemas.microsoft.com/office/drawing/2014/main" id="{EE18C6F3-D862-A3C0-17B6-E1421B12E9B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462719" y="3492392"/>
            <a:ext cx="344246" cy="257258"/>
          </a:xfrm>
          <a:prstGeom prst="rect">
            <a:avLst/>
          </a:prstGeom>
        </p:spPr>
      </p:pic>
      <p:sp>
        <p:nvSpPr>
          <p:cNvPr id="1223" name="Rectangle 1222">
            <a:extLst>
              <a:ext uri="{FF2B5EF4-FFF2-40B4-BE49-F238E27FC236}">
                <a16:creationId xmlns:a16="http://schemas.microsoft.com/office/drawing/2014/main" id="{50301CBE-1CDC-9BCF-4FE0-986C7DE7A436}"/>
              </a:ext>
            </a:extLst>
          </p:cNvPr>
          <p:cNvSpPr/>
          <p:nvPr/>
        </p:nvSpPr>
        <p:spPr>
          <a:xfrm>
            <a:off x="5345022" y="3332155"/>
            <a:ext cx="1982425" cy="153679"/>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bg2">
                  <a:lumMod val="10000"/>
                </a:schemeClr>
              </a:solidFill>
            </a:endParaRPr>
          </a:p>
        </p:txBody>
      </p:sp>
      <p:sp>
        <p:nvSpPr>
          <p:cNvPr id="1224" name="TextBox 1223">
            <a:extLst>
              <a:ext uri="{FF2B5EF4-FFF2-40B4-BE49-F238E27FC236}">
                <a16:creationId xmlns:a16="http://schemas.microsoft.com/office/drawing/2014/main" id="{F8D92110-EAB9-91F6-A78D-08B93B7ABB94}"/>
              </a:ext>
            </a:extLst>
          </p:cNvPr>
          <p:cNvSpPr txBox="1"/>
          <p:nvPr/>
        </p:nvSpPr>
        <p:spPr>
          <a:xfrm>
            <a:off x="5410739" y="3253892"/>
            <a:ext cx="1613434"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solidFill>
                  <a:srgbClr val="000000"/>
                </a:solidFill>
                <a:latin typeface="Source Sans Pro" panose="020B0503030403020204" pitchFamily="34" charset="0"/>
                <a:ea typeface="Source Sans Pro" panose="020B0503030403020204" pitchFamily="34" charset="0"/>
              </a:rPr>
              <a:t>Username </a:t>
            </a:r>
            <a:r>
              <a:rPr lang="en-US" sz="800" b="0" dirty="0">
                <a:solidFill>
                  <a:srgbClr val="000000"/>
                </a:solidFill>
                <a:latin typeface="Source Sans Pro" panose="020B0503030403020204" pitchFamily="34" charset="0"/>
                <a:ea typeface="Source Sans Pro" panose="020B0503030403020204" pitchFamily="34" charset="0"/>
              </a:rPr>
              <a:t>commented on Mar 15</a:t>
            </a:r>
            <a:endParaRPr kumimoji="0" lang="en-US" sz="800" b="0" i="0" u="none" strike="noStrike" cap="none" spc="0" normalizeH="0" baseline="0" dirty="0">
              <a:ln>
                <a:noFill/>
              </a:ln>
              <a:solidFill>
                <a:srgbClr val="000000"/>
              </a:solidFill>
              <a:effectLst/>
              <a:uFillTx/>
              <a:latin typeface="Source Sans Pro" panose="020B0503030403020204" pitchFamily="34" charset="0"/>
              <a:ea typeface="Source Sans Pro" panose="020B0503030403020204" pitchFamily="34" charset="0"/>
              <a:sym typeface="Source Sans Pro"/>
            </a:endParaRPr>
          </a:p>
        </p:txBody>
      </p:sp>
      <p:pic>
        <p:nvPicPr>
          <p:cNvPr id="1225" name="Picture 24" descr="Account ">
            <a:extLst>
              <a:ext uri="{FF2B5EF4-FFF2-40B4-BE49-F238E27FC236}">
                <a16:creationId xmlns:a16="http://schemas.microsoft.com/office/drawing/2014/main" id="{F7444261-59D3-36A8-CD75-EB4C88EE113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03820" y="3319368"/>
            <a:ext cx="267968" cy="267968"/>
          </a:xfrm>
          <a:prstGeom prst="rect">
            <a:avLst/>
          </a:prstGeom>
          <a:noFill/>
          <a:extLst>
            <a:ext uri="{909E8E84-426E-40DD-AFC4-6F175D3DCCD1}">
              <a14:hiddenFill xmlns:a14="http://schemas.microsoft.com/office/drawing/2010/main">
                <a:solidFill>
                  <a:srgbClr val="FFFFFF"/>
                </a:solidFill>
              </a14:hiddenFill>
            </a:ext>
          </a:extLst>
        </p:spPr>
      </p:pic>
      <p:cxnSp>
        <p:nvCxnSpPr>
          <p:cNvPr id="1228" name="Straight Connector 1227">
            <a:extLst>
              <a:ext uri="{FF2B5EF4-FFF2-40B4-BE49-F238E27FC236}">
                <a16:creationId xmlns:a16="http://schemas.microsoft.com/office/drawing/2014/main" id="{E55AE7D5-F662-BE40-4703-022D417E3973}"/>
              </a:ext>
            </a:extLst>
          </p:cNvPr>
          <p:cNvCxnSpPr>
            <a:cxnSpLocks/>
          </p:cNvCxnSpPr>
          <p:nvPr/>
        </p:nvCxnSpPr>
        <p:spPr>
          <a:xfrm>
            <a:off x="5557942" y="3786089"/>
            <a:ext cx="0" cy="274561"/>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238" name="Rectangle 1237">
            <a:extLst>
              <a:ext uri="{FF2B5EF4-FFF2-40B4-BE49-F238E27FC236}">
                <a16:creationId xmlns:a16="http://schemas.microsoft.com/office/drawing/2014/main" id="{99AC0662-714A-0928-60AF-0BBD2CD0C0B9}"/>
              </a:ext>
            </a:extLst>
          </p:cNvPr>
          <p:cNvSpPr/>
          <p:nvPr/>
        </p:nvSpPr>
        <p:spPr>
          <a:xfrm>
            <a:off x="5346301" y="4065952"/>
            <a:ext cx="1981854" cy="84861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bg2">
                  <a:lumMod val="10000"/>
                </a:schemeClr>
              </a:solidFill>
            </a:endParaRPr>
          </a:p>
        </p:txBody>
      </p:sp>
      <p:sp>
        <p:nvSpPr>
          <p:cNvPr id="1239" name="Rectangle 1238">
            <a:extLst>
              <a:ext uri="{FF2B5EF4-FFF2-40B4-BE49-F238E27FC236}">
                <a16:creationId xmlns:a16="http://schemas.microsoft.com/office/drawing/2014/main" id="{5CD2B9BA-03F6-1F1A-CE54-991DE8B5C230}"/>
              </a:ext>
            </a:extLst>
          </p:cNvPr>
          <p:cNvSpPr/>
          <p:nvPr/>
        </p:nvSpPr>
        <p:spPr>
          <a:xfrm>
            <a:off x="5345022" y="4066378"/>
            <a:ext cx="1982425" cy="153679"/>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bg2">
                  <a:lumMod val="10000"/>
                </a:schemeClr>
              </a:solidFill>
            </a:endParaRPr>
          </a:p>
        </p:txBody>
      </p:sp>
      <p:pic>
        <p:nvPicPr>
          <p:cNvPr id="1240" name="Picture 24" descr="Account ">
            <a:extLst>
              <a:ext uri="{FF2B5EF4-FFF2-40B4-BE49-F238E27FC236}">
                <a16:creationId xmlns:a16="http://schemas.microsoft.com/office/drawing/2014/main" id="{C599518D-E4DD-4BE6-DBF1-12E8B4DD63D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03820" y="4060650"/>
            <a:ext cx="267968" cy="267968"/>
          </a:xfrm>
          <a:prstGeom prst="rect">
            <a:avLst/>
          </a:prstGeom>
          <a:noFill/>
          <a:extLst>
            <a:ext uri="{909E8E84-426E-40DD-AFC4-6F175D3DCCD1}">
              <a14:hiddenFill xmlns:a14="http://schemas.microsoft.com/office/drawing/2010/main">
                <a:solidFill>
                  <a:srgbClr val="FFFFFF"/>
                </a:solidFill>
              </a14:hiddenFill>
            </a:ext>
          </a:extLst>
        </p:spPr>
      </p:pic>
      <p:sp>
        <p:nvSpPr>
          <p:cNvPr id="1242" name="TextBox 1241">
            <a:extLst>
              <a:ext uri="{FF2B5EF4-FFF2-40B4-BE49-F238E27FC236}">
                <a16:creationId xmlns:a16="http://schemas.microsoft.com/office/drawing/2014/main" id="{748264E6-A78D-20FE-B287-DB7C66797D30}"/>
              </a:ext>
            </a:extLst>
          </p:cNvPr>
          <p:cNvSpPr txBox="1"/>
          <p:nvPr/>
        </p:nvSpPr>
        <p:spPr>
          <a:xfrm>
            <a:off x="5391953" y="4006859"/>
            <a:ext cx="1613434"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solidFill>
                  <a:srgbClr val="000000"/>
                </a:solidFill>
                <a:latin typeface="Source Sans Pro" panose="020B0503030403020204" pitchFamily="34" charset="0"/>
                <a:ea typeface="Source Sans Pro" panose="020B0503030403020204" pitchFamily="34" charset="0"/>
              </a:rPr>
              <a:t>Username </a:t>
            </a:r>
            <a:r>
              <a:rPr lang="en-US" sz="800" b="0" dirty="0">
                <a:solidFill>
                  <a:srgbClr val="000000"/>
                </a:solidFill>
                <a:latin typeface="Source Sans Pro" panose="020B0503030403020204" pitchFamily="34" charset="0"/>
                <a:ea typeface="Source Sans Pro" panose="020B0503030403020204" pitchFamily="34" charset="0"/>
              </a:rPr>
              <a:t>commented on Mar 27</a:t>
            </a:r>
            <a:endParaRPr kumimoji="0" lang="en-US" sz="800" b="0" i="0" u="none" strike="noStrike" cap="none" spc="0" normalizeH="0" baseline="0" dirty="0">
              <a:ln>
                <a:noFill/>
              </a:ln>
              <a:solidFill>
                <a:srgbClr val="000000"/>
              </a:solidFill>
              <a:effectLst/>
              <a:uFillTx/>
              <a:latin typeface="Source Sans Pro" panose="020B0503030403020204" pitchFamily="34" charset="0"/>
              <a:ea typeface="Source Sans Pro" panose="020B0503030403020204" pitchFamily="34" charset="0"/>
              <a:sym typeface="Source Sans Pro"/>
            </a:endParaRPr>
          </a:p>
        </p:txBody>
      </p:sp>
      <p:sp>
        <p:nvSpPr>
          <p:cNvPr id="1243" name="Rectangle 1242">
            <a:extLst>
              <a:ext uri="{FF2B5EF4-FFF2-40B4-BE49-F238E27FC236}">
                <a16:creationId xmlns:a16="http://schemas.microsoft.com/office/drawing/2014/main" id="{DB60B5F5-5EE9-6723-94AA-8EAE94B14A7B}"/>
              </a:ext>
            </a:extLst>
          </p:cNvPr>
          <p:cNvSpPr/>
          <p:nvPr/>
        </p:nvSpPr>
        <p:spPr>
          <a:xfrm>
            <a:off x="5349765" y="4302267"/>
            <a:ext cx="575983" cy="111167"/>
          </a:xfrm>
          <a:prstGeom prst="rect">
            <a:avLst/>
          </a:prstGeom>
          <a:solidFill>
            <a:srgbClr val="C00000">
              <a:alpha val="34137"/>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44" name="Rectangle 1243">
            <a:extLst>
              <a:ext uri="{FF2B5EF4-FFF2-40B4-BE49-F238E27FC236}">
                <a16:creationId xmlns:a16="http://schemas.microsoft.com/office/drawing/2014/main" id="{5FC90147-959C-0DEB-6B3A-E16F2C5EF904}"/>
              </a:ext>
            </a:extLst>
          </p:cNvPr>
          <p:cNvSpPr/>
          <p:nvPr/>
        </p:nvSpPr>
        <p:spPr>
          <a:xfrm>
            <a:off x="5345022" y="4414805"/>
            <a:ext cx="1978390" cy="118784"/>
          </a:xfrm>
          <a:prstGeom prst="rect">
            <a:avLst/>
          </a:prstGeom>
          <a:solidFill>
            <a:schemeClr val="accent2">
              <a:lumMod val="50000"/>
              <a:alpha val="34137"/>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57" name="Use headers, colors, and/or backgrounds to separate or group together sections.">
            <a:extLst>
              <a:ext uri="{FF2B5EF4-FFF2-40B4-BE49-F238E27FC236}">
                <a16:creationId xmlns:a16="http://schemas.microsoft.com/office/drawing/2014/main" id="{74B6CCB6-AE13-B223-6334-95435D1AE015}"/>
              </a:ext>
            </a:extLst>
          </p:cNvPr>
          <p:cNvSpPr txBox="1"/>
          <p:nvPr/>
        </p:nvSpPr>
        <p:spPr>
          <a:xfrm>
            <a:off x="5372004" y="4254696"/>
            <a:ext cx="261011" cy="1771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Arial" panose="020B0604020202020204" pitchFamily="34" charset="0"/>
                <a:cs typeface="Arial" panose="020B0604020202020204" pitchFamily="34" charset="0"/>
              </a:rPr>
              <a:t>24</a:t>
            </a:r>
          </a:p>
          <a:p>
            <a:pPr>
              <a:lnSpc>
                <a:spcPct val="90000"/>
              </a:lnSpc>
              <a:buSzPts val="3700"/>
            </a:pPr>
            <a:endParaRPr lang="en-US" b="0" u="sng" dirty="0">
              <a:solidFill>
                <a:schemeClr val="hlink"/>
              </a:solidFill>
              <a:latin typeface="Arial" panose="020B0604020202020204" pitchFamily="34" charset="0"/>
              <a:ea typeface="Arial"/>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Arial" panose="020B0604020202020204" pitchFamily="34" charset="0"/>
              <a:cs typeface="Arial" panose="020B0604020202020204" pitchFamily="34" charset="0"/>
              <a:hlinkClick r:id="rId4"/>
            </a:endParaRPr>
          </a:p>
        </p:txBody>
      </p:sp>
      <p:sp>
        <p:nvSpPr>
          <p:cNvPr id="1258" name="Rectangle 1257">
            <a:extLst>
              <a:ext uri="{FF2B5EF4-FFF2-40B4-BE49-F238E27FC236}">
                <a16:creationId xmlns:a16="http://schemas.microsoft.com/office/drawing/2014/main" id="{4C6E3235-D1E6-9A5F-1369-DAA2B1068864}"/>
              </a:ext>
            </a:extLst>
          </p:cNvPr>
          <p:cNvSpPr/>
          <p:nvPr/>
        </p:nvSpPr>
        <p:spPr>
          <a:xfrm>
            <a:off x="5925747" y="4303638"/>
            <a:ext cx="1402407" cy="111167"/>
          </a:xfrm>
          <a:prstGeom prst="rect">
            <a:avLst/>
          </a:prstGeom>
          <a:solidFill>
            <a:srgbClr val="C00000">
              <a:alpha val="60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263" name="Straight Connector 1262">
            <a:extLst>
              <a:ext uri="{FF2B5EF4-FFF2-40B4-BE49-F238E27FC236}">
                <a16:creationId xmlns:a16="http://schemas.microsoft.com/office/drawing/2014/main" id="{B4D7BED8-9FCD-D52F-9865-2AD7938AB09C}"/>
              </a:ext>
            </a:extLst>
          </p:cNvPr>
          <p:cNvCxnSpPr>
            <a:cxnSpLocks/>
          </p:cNvCxnSpPr>
          <p:nvPr/>
        </p:nvCxnSpPr>
        <p:spPr>
          <a:xfrm>
            <a:off x="6012488" y="4353447"/>
            <a:ext cx="56492" cy="0"/>
          </a:xfrm>
          <a:prstGeom prst="line">
            <a:avLst/>
          </a:prstGeom>
          <a:noFill/>
          <a:ln w="1016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265" name="Rectangle 1264">
            <a:extLst>
              <a:ext uri="{FF2B5EF4-FFF2-40B4-BE49-F238E27FC236}">
                <a16:creationId xmlns:a16="http://schemas.microsoft.com/office/drawing/2014/main" id="{94EC5DF6-55AF-E95A-32E2-1396DB73C7D3}"/>
              </a:ext>
            </a:extLst>
          </p:cNvPr>
          <p:cNvSpPr/>
          <p:nvPr/>
        </p:nvSpPr>
        <p:spPr>
          <a:xfrm>
            <a:off x="5925747" y="4414805"/>
            <a:ext cx="1402407" cy="118784"/>
          </a:xfrm>
          <a:prstGeom prst="rect">
            <a:avLst/>
          </a:prstGeom>
          <a:solidFill>
            <a:schemeClr val="accent2">
              <a:lumMod val="50000"/>
              <a:alpha val="34137"/>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7" name="Use headers, colors, and/or backgrounds to separate or group together sections.">
            <a:extLst>
              <a:ext uri="{FF2B5EF4-FFF2-40B4-BE49-F238E27FC236}">
                <a16:creationId xmlns:a16="http://schemas.microsoft.com/office/drawing/2014/main" id="{E914608C-4217-3A34-7DFE-0C03CFC5BF8A}"/>
              </a:ext>
            </a:extLst>
          </p:cNvPr>
          <p:cNvSpPr txBox="1"/>
          <p:nvPr/>
        </p:nvSpPr>
        <p:spPr>
          <a:xfrm>
            <a:off x="5638447" y="4373616"/>
            <a:ext cx="261011" cy="1771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Arial" panose="020B0604020202020204" pitchFamily="34" charset="0"/>
                <a:cs typeface="Arial" panose="020B0604020202020204" pitchFamily="34" charset="0"/>
              </a:rPr>
              <a:t>25</a:t>
            </a:r>
          </a:p>
          <a:p>
            <a:pPr>
              <a:lnSpc>
                <a:spcPct val="90000"/>
              </a:lnSpc>
              <a:buSzPts val="3700"/>
            </a:pPr>
            <a:endParaRPr lang="en-US" sz="800" b="0" dirty="0">
              <a:latin typeface="Arial" panose="020B0604020202020204" pitchFamily="34" charset="0"/>
              <a:cs typeface="Arial" panose="020B0604020202020204" pitchFamily="34" charset="0"/>
            </a:endParaRPr>
          </a:p>
          <a:p>
            <a:pPr>
              <a:lnSpc>
                <a:spcPct val="90000"/>
              </a:lnSpc>
              <a:buSzPts val="3700"/>
            </a:pPr>
            <a:endParaRPr lang="en-US" b="0" u="sng" dirty="0">
              <a:solidFill>
                <a:schemeClr val="hlink"/>
              </a:solidFill>
              <a:latin typeface="Arial" panose="020B0604020202020204" pitchFamily="34" charset="0"/>
              <a:ea typeface="Arial"/>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Arial" panose="020B0604020202020204" pitchFamily="34" charset="0"/>
              <a:cs typeface="Arial" panose="020B0604020202020204" pitchFamily="34" charset="0"/>
              <a:hlinkClick r:id="rId4"/>
            </a:endParaRPr>
          </a:p>
        </p:txBody>
      </p:sp>
      <p:sp>
        <p:nvSpPr>
          <p:cNvPr id="1269" name="Use headers, colors, and/or backgrounds to separate or group together sections.">
            <a:extLst>
              <a:ext uri="{FF2B5EF4-FFF2-40B4-BE49-F238E27FC236}">
                <a16:creationId xmlns:a16="http://schemas.microsoft.com/office/drawing/2014/main" id="{3B710312-8CB3-0484-9208-7DC9EA933D19}"/>
              </a:ext>
            </a:extLst>
          </p:cNvPr>
          <p:cNvSpPr txBox="1"/>
          <p:nvPr/>
        </p:nvSpPr>
        <p:spPr>
          <a:xfrm>
            <a:off x="5954616" y="4373616"/>
            <a:ext cx="261011" cy="1771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Arial" panose="020B0604020202020204" pitchFamily="34" charset="0"/>
                <a:cs typeface="Arial" panose="020B0604020202020204" pitchFamily="34" charset="0"/>
              </a:rPr>
              <a:t>+</a:t>
            </a:r>
          </a:p>
          <a:p>
            <a:pPr>
              <a:lnSpc>
                <a:spcPct val="90000"/>
              </a:lnSpc>
              <a:buSzPts val="3700"/>
            </a:pPr>
            <a:endParaRPr lang="en-US" sz="800" b="0" dirty="0">
              <a:latin typeface="Arial" panose="020B0604020202020204" pitchFamily="34" charset="0"/>
              <a:cs typeface="Arial" panose="020B0604020202020204" pitchFamily="34" charset="0"/>
            </a:endParaRPr>
          </a:p>
          <a:p>
            <a:pPr>
              <a:lnSpc>
                <a:spcPct val="90000"/>
              </a:lnSpc>
              <a:buSzPts val="3700"/>
            </a:pPr>
            <a:endParaRPr lang="en-US" b="0" u="sng" dirty="0">
              <a:solidFill>
                <a:schemeClr val="hlink"/>
              </a:solidFill>
              <a:latin typeface="Arial" panose="020B0604020202020204" pitchFamily="34" charset="0"/>
              <a:ea typeface="Arial"/>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Arial" panose="020B0604020202020204" pitchFamily="34" charset="0"/>
              <a:cs typeface="Arial" panose="020B0604020202020204" pitchFamily="34" charset="0"/>
              <a:hlinkClick r:id="rId4"/>
            </a:endParaRPr>
          </a:p>
        </p:txBody>
      </p:sp>
      <p:pic>
        <p:nvPicPr>
          <p:cNvPr id="1217" name="Graphic 1216" descr="Thumbs up sign with solid fill">
            <a:extLst>
              <a:ext uri="{FF2B5EF4-FFF2-40B4-BE49-F238E27FC236}">
                <a16:creationId xmlns:a16="http://schemas.microsoft.com/office/drawing/2014/main" id="{ED114803-EB5E-2D25-D487-C2E2F350DCC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flipV="1">
            <a:off x="5446669" y="4612601"/>
            <a:ext cx="353021" cy="263816"/>
          </a:xfrm>
          <a:prstGeom prst="rect">
            <a:avLst/>
          </a:prstGeom>
        </p:spPr>
      </p:pic>
      <p:pic>
        <p:nvPicPr>
          <p:cNvPr id="1275" name="Picture 1274" descr="Robot ">
            <a:extLst>
              <a:ext uri="{FF2B5EF4-FFF2-40B4-BE49-F238E27FC236}">
                <a16:creationId xmlns:a16="http://schemas.microsoft.com/office/drawing/2014/main" id="{512D7DAC-BA74-0FCB-DFD4-D3BDBDA62D67}"/>
              </a:ext>
            </a:extLst>
          </p:cNvPr>
          <p:cNvPicPr>
            <a:picLocks noChangeAspect="1"/>
          </p:cNvPicPr>
          <p:nvPr/>
        </p:nvPicPr>
        <p:blipFill>
          <a:blip r:embed="rId16"/>
          <a:stretch>
            <a:fillRect/>
          </a:stretch>
        </p:blipFill>
        <p:spPr>
          <a:xfrm>
            <a:off x="4841597" y="8998025"/>
            <a:ext cx="251462" cy="251462"/>
          </a:xfrm>
          <a:prstGeom prst="rect">
            <a:avLst/>
          </a:prstGeom>
        </p:spPr>
      </p:pic>
      <p:sp>
        <p:nvSpPr>
          <p:cNvPr id="1285" name="TextBox 1284">
            <a:extLst>
              <a:ext uri="{FF2B5EF4-FFF2-40B4-BE49-F238E27FC236}">
                <a16:creationId xmlns:a16="http://schemas.microsoft.com/office/drawing/2014/main" id="{8A4E4781-EF46-392D-2516-E65624E6955B}"/>
              </a:ext>
            </a:extLst>
          </p:cNvPr>
          <p:cNvSpPr txBox="1"/>
          <p:nvPr/>
        </p:nvSpPr>
        <p:spPr>
          <a:xfrm>
            <a:off x="4831752" y="2802594"/>
            <a:ext cx="3720890" cy="261610"/>
          </a:xfrm>
          <a:prstGeom prst="rect">
            <a:avLst/>
          </a:prstGeom>
          <a:noFill/>
        </p:spPr>
        <p:txBody>
          <a:bodyPr wrap="none" rtlCol="0">
            <a:spAutoFit/>
          </a:bodyPr>
          <a:lstStyle/>
          <a:p>
            <a:r>
              <a:rPr lang="en-US" sz="800" dirty="0"/>
              <a:t>Code          Issues          </a:t>
            </a:r>
            <a:r>
              <a:rPr lang="en-US" sz="1100" b="1" dirty="0"/>
              <a:t>Pull Requests          </a:t>
            </a:r>
            <a:r>
              <a:rPr lang="en-US" sz="800" dirty="0"/>
              <a:t>Actions          Wiki          Security  </a:t>
            </a:r>
          </a:p>
        </p:txBody>
      </p:sp>
      <p:cxnSp>
        <p:nvCxnSpPr>
          <p:cNvPr id="1293" name="Straight Connector 1292">
            <a:extLst>
              <a:ext uri="{FF2B5EF4-FFF2-40B4-BE49-F238E27FC236}">
                <a16:creationId xmlns:a16="http://schemas.microsoft.com/office/drawing/2014/main" id="{82F4EFFD-F6B2-5609-CB60-50D8AC98F9BA}"/>
              </a:ext>
            </a:extLst>
          </p:cNvPr>
          <p:cNvCxnSpPr/>
          <p:nvPr/>
        </p:nvCxnSpPr>
        <p:spPr>
          <a:xfrm>
            <a:off x="4710257" y="3064204"/>
            <a:ext cx="4438400"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294" name="Oval 1293">
            <a:extLst>
              <a:ext uri="{FF2B5EF4-FFF2-40B4-BE49-F238E27FC236}">
                <a16:creationId xmlns:a16="http://schemas.microsoft.com/office/drawing/2014/main" id="{54375D7C-BD6A-FB9D-E7EA-32358E19CF39}"/>
              </a:ext>
            </a:extLst>
          </p:cNvPr>
          <p:cNvSpPr/>
          <p:nvPr/>
        </p:nvSpPr>
        <p:spPr>
          <a:xfrm>
            <a:off x="7930495" y="3713336"/>
            <a:ext cx="124300" cy="87476"/>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6" name="Oval 1295">
            <a:extLst>
              <a:ext uri="{FF2B5EF4-FFF2-40B4-BE49-F238E27FC236}">
                <a16:creationId xmlns:a16="http://schemas.microsoft.com/office/drawing/2014/main" id="{4BE240BD-5031-8EEE-4B08-CA04839DFA6F}"/>
              </a:ext>
            </a:extLst>
          </p:cNvPr>
          <p:cNvSpPr/>
          <p:nvPr/>
        </p:nvSpPr>
        <p:spPr>
          <a:xfrm>
            <a:off x="7930495" y="3850519"/>
            <a:ext cx="124300" cy="87476"/>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7" name="Straight Connector 1296">
            <a:extLst>
              <a:ext uri="{FF2B5EF4-FFF2-40B4-BE49-F238E27FC236}">
                <a16:creationId xmlns:a16="http://schemas.microsoft.com/office/drawing/2014/main" id="{8C66F789-5030-707E-C927-57EA4656903A}"/>
              </a:ext>
            </a:extLst>
          </p:cNvPr>
          <p:cNvCxnSpPr>
            <a:cxnSpLocks/>
          </p:cNvCxnSpPr>
          <p:nvPr/>
        </p:nvCxnSpPr>
        <p:spPr>
          <a:xfrm>
            <a:off x="7909897" y="4006859"/>
            <a:ext cx="1238760"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00" name="Oval 1299">
            <a:extLst>
              <a:ext uri="{FF2B5EF4-FFF2-40B4-BE49-F238E27FC236}">
                <a16:creationId xmlns:a16="http://schemas.microsoft.com/office/drawing/2014/main" id="{07BAE4C1-EDF3-12B5-CD62-DA23DF12E907}"/>
              </a:ext>
            </a:extLst>
          </p:cNvPr>
          <p:cNvSpPr/>
          <p:nvPr/>
        </p:nvSpPr>
        <p:spPr>
          <a:xfrm>
            <a:off x="7930495" y="4148778"/>
            <a:ext cx="124300" cy="87476"/>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1" name="Oval 1300">
            <a:extLst>
              <a:ext uri="{FF2B5EF4-FFF2-40B4-BE49-F238E27FC236}">
                <a16:creationId xmlns:a16="http://schemas.microsoft.com/office/drawing/2014/main" id="{244B5266-1BAE-069A-8728-327CDDB4FF2D}"/>
              </a:ext>
            </a:extLst>
          </p:cNvPr>
          <p:cNvSpPr/>
          <p:nvPr/>
        </p:nvSpPr>
        <p:spPr>
          <a:xfrm>
            <a:off x="7930495" y="4286140"/>
            <a:ext cx="124300" cy="87476"/>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02" name="Straight Connector 1301">
            <a:extLst>
              <a:ext uri="{FF2B5EF4-FFF2-40B4-BE49-F238E27FC236}">
                <a16:creationId xmlns:a16="http://schemas.microsoft.com/office/drawing/2014/main" id="{ED941534-1F09-601B-6B06-5973A340607E}"/>
              </a:ext>
            </a:extLst>
          </p:cNvPr>
          <p:cNvCxnSpPr>
            <a:cxnSpLocks/>
          </p:cNvCxnSpPr>
          <p:nvPr/>
        </p:nvCxnSpPr>
        <p:spPr>
          <a:xfrm>
            <a:off x="7909897" y="4434380"/>
            <a:ext cx="1238760"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03" name="Straight Connector 1302">
            <a:extLst>
              <a:ext uri="{FF2B5EF4-FFF2-40B4-BE49-F238E27FC236}">
                <a16:creationId xmlns:a16="http://schemas.microsoft.com/office/drawing/2014/main" id="{F7EF9651-8D63-AE76-6C2D-867CAC3BDD5E}"/>
              </a:ext>
            </a:extLst>
          </p:cNvPr>
          <p:cNvCxnSpPr>
            <a:cxnSpLocks/>
          </p:cNvCxnSpPr>
          <p:nvPr/>
        </p:nvCxnSpPr>
        <p:spPr>
          <a:xfrm>
            <a:off x="7897215" y="4769660"/>
            <a:ext cx="1238760"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05" name="Use headers, colors, and/or backgrounds to separate or group together sections.">
            <a:extLst>
              <a:ext uri="{FF2B5EF4-FFF2-40B4-BE49-F238E27FC236}">
                <a16:creationId xmlns:a16="http://schemas.microsoft.com/office/drawing/2014/main" id="{D8B096D2-AB0F-0005-11EE-891846B979E3}"/>
              </a:ext>
            </a:extLst>
          </p:cNvPr>
          <p:cNvSpPr txBox="1"/>
          <p:nvPr/>
        </p:nvSpPr>
        <p:spPr>
          <a:xfrm>
            <a:off x="7870069" y="3529186"/>
            <a:ext cx="639519" cy="203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Source Sans Pro" panose="020B0503030403020204" pitchFamily="34" charset="0"/>
                <a:ea typeface="Source Sans Pro" panose="020B0503030403020204" pitchFamily="34" charset="0"/>
                <a:cs typeface="Arial" panose="020B0604020202020204" pitchFamily="34" charset="0"/>
              </a:rPr>
              <a:t>Reviewers</a:t>
            </a:r>
            <a:endParaRPr lang="en-US" sz="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306" name="Use headers, colors, and/or backgrounds to separate or group together sections.">
            <a:extLst>
              <a:ext uri="{FF2B5EF4-FFF2-40B4-BE49-F238E27FC236}">
                <a16:creationId xmlns:a16="http://schemas.microsoft.com/office/drawing/2014/main" id="{7DCE1ED2-E777-DB8F-63F1-9329A0E41F41}"/>
              </a:ext>
            </a:extLst>
          </p:cNvPr>
          <p:cNvSpPr txBox="1"/>
          <p:nvPr/>
        </p:nvSpPr>
        <p:spPr>
          <a:xfrm>
            <a:off x="7870069" y="3964320"/>
            <a:ext cx="639519" cy="203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Source Sans Pro" panose="020B0503030403020204" pitchFamily="34" charset="0"/>
                <a:ea typeface="Source Sans Pro" panose="020B0503030403020204" pitchFamily="34" charset="0"/>
                <a:cs typeface="Arial" panose="020B0604020202020204" pitchFamily="34" charset="0"/>
              </a:rPr>
              <a:t>Assignees</a:t>
            </a:r>
            <a:endParaRPr lang="en-US" sz="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307" name="Use headers, colors, and/or backgrounds to separate or group together sections.">
            <a:extLst>
              <a:ext uri="{FF2B5EF4-FFF2-40B4-BE49-F238E27FC236}">
                <a16:creationId xmlns:a16="http://schemas.microsoft.com/office/drawing/2014/main" id="{056F9BA6-96FE-550B-E247-391A05CB0021}"/>
              </a:ext>
            </a:extLst>
          </p:cNvPr>
          <p:cNvSpPr txBox="1"/>
          <p:nvPr/>
        </p:nvSpPr>
        <p:spPr>
          <a:xfrm>
            <a:off x="7862824" y="4394058"/>
            <a:ext cx="639519" cy="203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Source Sans Pro" panose="020B0503030403020204" pitchFamily="34" charset="0"/>
                <a:ea typeface="Source Sans Pro" panose="020B0503030403020204" pitchFamily="34" charset="0"/>
                <a:cs typeface="Arial" panose="020B0604020202020204" pitchFamily="34" charset="0"/>
              </a:rPr>
              <a:t>Labels</a:t>
            </a:r>
            <a:endParaRPr lang="en-US" sz="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308" name="Rounded Rectangle 14">
            <a:extLst>
              <a:ext uri="{FF2B5EF4-FFF2-40B4-BE49-F238E27FC236}">
                <a16:creationId xmlns:a16="http://schemas.microsoft.com/office/drawing/2014/main" id="{15AAF6FE-DF3A-CB0C-8071-10A2043F770B}"/>
              </a:ext>
            </a:extLst>
          </p:cNvPr>
          <p:cNvSpPr/>
          <p:nvPr/>
        </p:nvSpPr>
        <p:spPr>
          <a:xfrm>
            <a:off x="7909897" y="4560929"/>
            <a:ext cx="391646" cy="5167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9" name="Rounded Rectangle 14">
            <a:extLst>
              <a:ext uri="{FF2B5EF4-FFF2-40B4-BE49-F238E27FC236}">
                <a16:creationId xmlns:a16="http://schemas.microsoft.com/office/drawing/2014/main" id="{57DF85EA-D010-9E68-2324-C138956CEA2D}"/>
              </a:ext>
            </a:extLst>
          </p:cNvPr>
          <p:cNvSpPr/>
          <p:nvPr/>
        </p:nvSpPr>
        <p:spPr>
          <a:xfrm>
            <a:off x="8339332" y="4560928"/>
            <a:ext cx="727295" cy="51673"/>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0" name="Rounded Rectangle 14">
            <a:extLst>
              <a:ext uri="{FF2B5EF4-FFF2-40B4-BE49-F238E27FC236}">
                <a16:creationId xmlns:a16="http://schemas.microsoft.com/office/drawing/2014/main" id="{BBE5A750-71AF-595E-4C58-7BED3353A641}"/>
              </a:ext>
            </a:extLst>
          </p:cNvPr>
          <p:cNvSpPr/>
          <p:nvPr/>
        </p:nvSpPr>
        <p:spPr>
          <a:xfrm>
            <a:off x="7915736" y="4650159"/>
            <a:ext cx="586607" cy="45719"/>
          </a:xfrm>
          <a:prstGeom prst="roundRect">
            <a:avLst>
              <a:gd name="adj" fmla="val 50000"/>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11" name="Rounded Rectangle 14">
            <a:extLst>
              <a:ext uri="{FF2B5EF4-FFF2-40B4-BE49-F238E27FC236}">
                <a16:creationId xmlns:a16="http://schemas.microsoft.com/office/drawing/2014/main" id="{DEE24BBE-0F01-7D0A-2063-5586B7A699FB}"/>
              </a:ext>
            </a:extLst>
          </p:cNvPr>
          <p:cNvSpPr/>
          <p:nvPr/>
        </p:nvSpPr>
        <p:spPr>
          <a:xfrm>
            <a:off x="8540635" y="4651061"/>
            <a:ext cx="525991" cy="45719"/>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3" name="Use headers, colors, and/or backgrounds to separate or group together sections.">
            <a:extLst>
              <a:ext uri="{FF2B5EF4-FFF2-40B4-BE49-F238E27FC236}">
                <a16:creationId xmlns:a16="http://schemas.microsoft.com/office/drawing/2014/main" id="{9C48DD1D-9931-D82B-DAF7-03A8BEEC9007}"/>
              </a:ext>
            </a:extLst>
          </p:cNvPr>
          <p:cNvSpPr txBox="1"/>
          <p:nvPr/>
        </p:nvSpPr>
        <p:spPr>
          <a:xfrm>
            <a:off x="7862824" y="4748522"/>
            <a:ext cx="639519" cy="203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Source Sans Pro" panose="020B0503030403020204" pitchFamily="34" charset="0"/>
                <a:ea typeface="Source Sans Pro" panose="020B0503030403020204" pitchFamily="34" charset="0"/>
                <a:cs typeface="Arial" panose="020B0604020202020204" pitchFamily="34" charset="0"/>
              </a:rPr>
              <a:t>Milestone</a:t>
            </a:r>
            <a:endParaRPr lang="en-US" sz="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314" name="Use headers, colors, and/or backgrounds to separate or group together sections.">
            <a:extLst>
              <a:ext uri="{FF2B5EF4-FFF2-40B4-BE49-F238E27FC236}">
                <a16:creationId xmlns:a16="http://schemas.microsoft.com/office/drawing/2014/main" id="{1ED8EEF1-CE26-AC14-D8AF-D764312C2ECD}"/>
              </a:ext>
            </a:extLst>
          </p:cNvPr>
          <p:cNvSpPr txBox="1"/>
          <p:nvPr/>
        </p:nvSpPr>
        <p:spPr>
          <a:xfrm>
            <a:off x="7862824" y="4885496"/>
            <a:ext cx="763286" cy="203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solidFill>
                  <a:srgbClr val="4C4C4C">
                    <a:alpha val="70000"/>
                  </a:srgbClr>
                </a:solidFill>
                <a:latin typeface="Source Sans Pro" panose="020B0503030403020204" pitchFamily="34" charset="0"/>
                <a:ea typeface="Source Sans Pro" panose="020B0503030403020204" pitchFamily="34" charset="0"/>
                <a:cs typeface="Arial" panose="020B0604020202020204" pitchFamily="34" charset="0"/>
              </a:rPr>
              <a:t>No milestone</a:t>
            </a:r>
            <a:endParaRPr lang="en-US" sz="800" b="0" u="sng" dirty="0">
              <a:solidFill>
                <a:srgbClr val="4C4C4C">
                  <a:alpha val="70000"/>
                </a:srgbClr>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xtLst>
                  <a:ext uri="{A12FA001-AC4F-418D-AE19-62706E023703}">
                    <ahyp:hlinkClr xmlns:ahyp="http://schemas.microsoft.com/office/drawing/2018/hyperlinkcolor" val="tx"/>
                  </a:ext>
                </a:extLst>
              </a:hlinkClick>
            </a:endParaRPr>
          </a:p>
          <a:p>
            <a:pPr lvl="0">
              <a:lnSpc>
                <a:spcPct val="90000"/>
              </a:lnSpc>
              <a:buSzPts val="3700"/>
            </a:pPr>
            <a:endParaRPr lang="en-US" b="0" u="sng" dirty="0">
              <a:solidFill>
                <a:srgbClr val="0000FF"/>
              </a:solidFill>
              <a:latin typeface="Source Sans Pro" panose="020B0503030403020204" pitchFamily="34" charset="0"/>
              <a:ea typeface="Source Sans Pro" panose="020B050303040302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1323" name="Use headers, colors, and/or backgrounds to separate or group together sections.">
            <a:extLst>
              <a:ext uri="{FF2B5EF4-FFF2-40B4-BE49-F238E27FC236}">
                <a16:creationId xmlns:a16="http://schemas.microsoft.com/office/drawing/2014/main" id="{5E488272-F152-8D3B-737B-60488D8D8ED2}"/>
              </a:ext>
            </a:extLst>
          </p:cNvPr>
          <p:cNvSpPr txBox="1"/>
          <p:nvPr/>
        </p:nvSpPr>
        <p:spPr>
          <a:xfrm>
            <a:off x="7587818" y="3052940"/>
            <a:ext cx="1503028" cy="203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1000" dirty="0">
                <a:latin typeface="Source Sans Pro" panose="020B0503030403020204" pitchFamily="34" charset="0"/>
                <a:ea typeface="Source Sans Pro" panose="020B0503030403020204" pitchFamily="34" charset="0"/>
                <a:cs typeface="Arial" panose="020B0604020202020204" pitchFamily="34" charset="0"/>
              </a:rPr>
              <a:t>Pull Request Sentiment</a:t>
            </a:r>
            <a:endParaRPr lang="en-US" sz="100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cxnSp>
        <p:nvCxnSpPr>
          <p:cNvPr id="1339" name="Connector: Elbow 1338">
            <a:extLst>
              <a:ext uri="{FF2B5EF4-FFF2-40B4-BE49-F238E27FC236}">
                <a16:creationId xmlns:a16="http://schemas.microsoft.com/office/drawing/2014/main" id="{A1495B7E-C110-9FDF-8C3C-FEFBF563DAF4}"/>
              </a:ext>
            </a:extLst>
          </p:cNvPr>
          <p:cNvCxnSpPr>
            <a:cxnSpLocks/>
            <a:stCxn id="1222" idx="3"/>
            <a:endCxn id="1323" idx="1"/>
          </p:cNvCxnSpPr>
          <p:nvPr/>
        </p:nvCxnSpPr>
        <p:spPr>
          <a:xfrm flipV="1">
            <a:off x="7328155" y="3154572"/>
            <a:ext cx="259663" cy="39791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43" name="Use headers, colors, and/or backgrounds to separate or group together sections.">
            <a:extLst>
              <a:ext uri="{FF2B5EF4-FFF2-40B4-BE49-F238E27FC236}">
                <a16:creationId xmlns:a16="http://schemas.microsoft.com/office/drawing/2014/main" id="{F4A9EF87-5379-6E4E-343B-BF2C30B27606}"/>
              </a:ext>
            </a:extLst>
          </p:cNvPr>
          <p:cNvSpPr txBox="1"/>
          <p:nvPr/>
        </p:nvSpPr>
        <p:spPr>
          <a:xfrm>
            <a:off x="7710067" y="3282570"/>
            <a:ext cx="1503028" cy="203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1000" dirty="0">
                <a:latin typeface="Source Sans Pro" panose="020B0503030403020204" pitchFamily="34" charset="0"/>
                <a:ea typeface="Source Sans Pro" panose="020B0503030403020204" pitchFamily="34" charset="0"/>
                <a:cs typeface="Arial" panose="020B0604020202020204" pitchFamily="34" charset="0"/>
              </a:rPr>
              <a:t>Code Quality Sentiment</a:t>
            </a:r>
            <a:endParaRPr lang="en-US" sz="100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cxnSp>
        <p:nvCxnSpPr>
          <p:cNvPr id="1354" name="Straight Connector 1353">
            <a:extLst>
              <a:ext uri="{FF2B5EF4-FFF2-40B4-BE49-F238E27FC236}">
                <a16:creationId xmlns:a16="http://schemas.microsoft.com/office/drawing/2014/main" id="{CEDDFB0F-A1FF-873B-FF57-7CA6B60DE549}"/>
              </a:ext>
            </a:extLst>
          </p:cNvPr>
          <p:cNvCxnSpPr>
            <a:cxnSpLocks/>
          </p:cNvCxnSpPr>
          <p:nvPr/>
        </p:nvCxnSpPr>
        <p:spPr>
          <a:xfrm>
            <a:off x="7328155" y="4612601"/>
            <a:ext cx="304545"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57" name="Straight Connector 1356">
            <a:extLst>
              <a:ext uri="{FF2B5EF4-FFF2-40B4-BE49-F238E27FC236}">
                <a16:creationId xmlns:a16="http://schemas.microsoft.com/office/drawing/2014/main" id="{FAA7F6E3-E63A-1ADD-5159-82C0130DACB1}"/>
              </a:ext>
            </a:extLst>
          </p:cNvPr>
          <p:cNvCxnSpPr>
            <a:cxnSpLocks/>
          </p:cNvCxnSpPr>
          <p:nvPr/>
        </p:nvCxnSpPr>
        <p:spPr>
          <a:xfrm flipV="1">
            <a:off x="7632700" y="3407490"/>
            <a:ext cx="0" cy="121103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62" name="Straight Connector 1361">
            <a:extLst>
              <a:ext uri="{FF2B5EF4-FFF2-40B4-BE49-F238E27FC236}">
                <a16:creationId xmlns:a16="http://schemas.microsoft.com/office/drawing/2014/main" id="{3BF345C1-FA0E-93CB-F970-41AC2159928B}"/>
              </a:ext>
            </a:extLst>
          </p:cNvPr>
          <p:cNvCxnSpPr>
            <a:cxnSpLocks/>
          </p:cNvCxnSpPr>
          <p:nvPr/>
        </p:nvCxnSpPr>
        <p:spPr>
          <a:xfrm>
            <a:off x="7618352" y="3412514"/>
            <a:ext cx="985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69" name="Use headers, colors, and/or backgrounds to separate or group together sections.">
            <a:extLst>
              <a:ext uri="{FF2B5EF4-FFF2-40B4-BE49-F238E27FC236}">
                <a16:creationId xmlns:a16="http://schemas.microsoft.com/office/drawing/2014/main" id="{306FBB49-B89B-52EB-0ADA-0AAF90BA6A75}"/>
              </a:ext>
            </a:extLst>
          </p:cNvPr>
          <p:cNvSpPr txBox="1"/>
          <p:nvPr/>
        </p:nvSpPr>
        <p:spPr>
          <a:xfrm>
            <a:off x="5295825" y="3070317"/>
            <a:ext cx="1356960" cy="2562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pic>
        <p:nvPicPr>
          <p:cNvPr id="1375" name="Graphic 478" descr="Arrow Right outline">
            <a:extLst>
              <a:ext uri="{FF2B5EF4-FFF2-40B4-BE49-F238E27FC236}">
                <a16:creationId xmlns:a16="http://schemas.microsoft.com/office/drawing/2014/main" id="{7863BD04-683D-29D9-3471-2A346055351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266511" y="4551283"/>
            <a:ext cx="369120" cy="768630"/>
          </a:xfrm>
          <a:prstGeom prst="rect">
            <a:avLst/>
          </a:prstGeom>
        </p:spPr>
      </p:pic>
      <p:sp>
        <p:nvSpPr>
          <p:cNvPr id="1376"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EB419FEF-09AE-9FE7-5B62-809F6CAAE3A0}"/>
              </a:ext>
            </a:extLst>
          </p:cNvPr>
          <p:cNvSpPr txBox="1"/>
          <p:nvPr/>
        </p:nvSpPr>
        <p:spPr>
          <a:xfrm>
            <a:off x="9690571" y="4604389"/>
            <a:ext cx="1342868" cy="6642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rgbClr val="000000"/>
                </a:solidFill>
                <a:latin typeface="Source Sans Pro" panose="020B0503030403020204" pitchFamily="34" charset="0"/>
                <a:ea typeface="Source Sans Pro" panose="020B0503030403020204" pitchFamily="34" charset="0"/>
                <a:sym typeface="Source Sans Pro Light"/>
              </a:rPr>
              <a:t>Lorem ipsum </a:t>
            </a:r>
            <a:r>
              <a:rPr lang="en-US" sz="1000" b="0" dirty="0">
                <a:solidFill>
                  <a:schemeClr val="accent5"/>
                </a:solidFill>
                <a:latin typeface="Source Sans Pro" panose="020B0503030403020204" pitchFamily="34" charset="0"/>
                <a:ea typeface="Source Sans Pro" panose="020B0503030403020204" pitchFamily="34" charset="0"/>
                <a:sym typeface="Source Sans Pro Light"/>
              </a:rPr>
              <a:t>https://example.com </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sit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amet</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consectetur</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adipiscing</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elit</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sed do</a:t>
            </a:r>
            <a:endParaRPr lang="en-US" sz="1000" u="sng" dirty="0">
              <a:latin typeface="Source Sans Pro" panose="020B0503030403020204" pitchFamily="34" charset="0"/>
              <a:ea typeface="Source Sans Pro" panose="020B0503030403020204" pitchFamily="34" charset="0"/>
              <a:hlinkClick r:id="rId4"/>
            </a:endParaRPr>
          </a:p>
        </p:txBody>
      </p:sp>
      <p:sp>
        <p:nvSpPr>
          <p:cNvPr id="1378" name="Rectangle 1377">
            <a:extLst>
              <a:ext uri="{FF2B5EF4-FFF2-40B4-BE49-F238E27FC236}">
                <a16:creationId xmlns:a16="http://schemas.microsoft.com/office/drawing/2014/main" id="{A5681009-F266-31CE-F828-11096DE8B115}"/>
              </a:ext>
            </a:extLst>
          </p:cNvPr>
          <p:cNvSpPr/>
          <p:nvPr/>
        </p:nvSpPr>
        <p:spPr>
          <a:xfrm>
            <a:off x="11904719" y="4647400"/>
            <a:ext cx="1342868" cy="585584"/>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79"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32A63599-6DF8-7997-6AFC-D36CA0792CD4}"/>
              </a:ext>
            </a:extLst>
          </p:cNvPr>
          <p:cNvSpPr txBox="1"/>
          <p:nvPr/>
        </p:nvSpPr>
        <p:spPr>
          <a:xfrm>
            <a:off x="11923060" y="4668579"/>
            <a:ext cx="1342868" cy="5257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rgbClr val="000000"/>
                </a:solidFill>
                <a:latin typeface="Source Sans Pro" panose="020B0503030403020204" pitchFamily="34" charset="0"/>
                <a:ea typeface="Source Sans Pro" panose="020B0503030403020204" pitchFamily="34" charset="0"/>
                <a:sym typeface="Source Sans Pro Light"/>
              </a:rPr>
              <a:t>Lorem ipsum </a:t>
            </a:r>
            <a:r>
              <a:rPr lang="en-US" sz="1000" b="0" dirty="0">
                <a:solidFill>
                  <a:schemeClr val="accent2"/>
                </a:solidFill>
                <a:latin typeface="Source Sans Pro" panose="020B0503030403020204" pitchFamily="34" charset="0"/>
                <a:ea typeface="Source Sans Pro" panose="020B0503030403020204" pitchFamily="34" charset="0"/>
                <a:sym typeface="Source Sans Pro Light"/>
              </a:rPr>
              <a:t>MEMAIL</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sit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amet</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consectetur</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adipiscing</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000000"/>
                </a:solidFill>
                <a:latin typeface="Source Sans Pro" panose="020B0503030403020204" pitchFamily="34" charset="0"/>
                <a:ea typeface="Source Sans Pro" panose="020B0503030403020204" pitchFamily="34" charset="0"/>
                <a:sym typeface="Source Sans Pro Light"/>
              </a:rPr>
              <a:t>elit</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sed do</a:t>
            </a:r>
            <a:endParaRPr lang="en-US" sz="1000" u="sng" dirty="0">
              <a:latin typeface="Source Sans Pro" panose="020B0503030403020204" pitchFamily="34" charset="0"/>
              <a:ea typeface="Source Sans Pro" panose="020B0503030403020204" pitchFamily="34" charset="0"/>
              <a:hlinkClick r:id="rId4"/>
            </a:endParaRPr>
          </a:p>
        </p:txBody>
      </p:sp>
      <p:sp>
        <p:nvSpPr>
          <p:cNvPr id="1380"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833A7A0E-AF5B-3E83-9C7D-1C0ADA8EBD4B}"/>
              </a:ext>
            </a:extLst>
          </p:cNvPr>
          <p:cNvSpPr txBox="1"/>
          <p:nvPr/>
        </p:nvSpPr>
        <p:spPr>
          <a:xfrm>
            <a:off x="9732848" y="6314088"/>
            <a:ext cx="1342868" cy="5257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rgbClr val="000000"/>
                </a:solidFill>
                <a:latin typeface="Source Sans Pro" panose="020B0503030403020204" pitchFamily="34" charset="0"/>
                <a:ea typeface="Source Sans Pro" panose="020B0503030403020204" pitchFamily="34" charset="0"/>
                <a:sym typeface="Source Sans Pro Light"/>
              </a:rPr>
              <a:t>Lorem</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Ipsum</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 </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dolor</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a:t>
            </a:r>
            <a:r>
              <a:rPr lang="en-US" sz="1000" b="0" dirty="0">
                <a:solidFill>
                  <a:srgbClr val="000000"/>
                </a:solidFill>
                <a:latin typeface="Source Sans Pro" panose="020B0503030403020204" pitchFamily="34" charset="0"/>
                <a:ea typeface="Source Sans Pro" panose="020B0503030403020204" pitchFamily="34" charset="0"/>
                <a:sym typeface="Source Sans Pro Light"/>
              </a:rPr>
              <a:t> </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&gt; sit </a:t>
            </a:r>
            <a:r>
              <a:rPr lang="en-US" sz="1000" b="0" dirty="0" err="1">
                <a:solidFill>
                  <a:srgbClr val="FF0000"/>
                </a:solidFill>
                <a:latin typeface="Source Sans Pro" panose="020B0503030403020204" pitchFamily="34" charset="0"/>
                <a:ea typeface="Source Sans Pro" panose="020B0503030403020204" pitchFamily="34" charset="0"/>
                <a:sym typeface="Source Sans Pro Light"/>
              </a:rPr>
              <a:t>amet</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FF0000"/>
                </a:solidFill>
                <a:latin typeface="Source Sans Pro" panose="020B0503030403020204" pitchFamily="34" charset="0"/>
                <a:ea typeface="Source Sans Pro" panose="020B0503030403020204" pitchFamily="34" charset="0"/>
                <a:sym typeface="Source Sans Pro Light"/>
              </a:rPr>
              <a:t>consectetur</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FF0000"/>
                </a:solidFill>
                <a:latin typeface="Source Sans Pro" panose="020B0503030403020204" pitchFamily="34" charset="0"/>
                <a:ea typeface="Source Sans Pro" panose="020B0503030403020204" pitchFamily="34" charset="0"/>
                <a:sym typeface="Source Sans Pro Light"/>
              </a:rPr>
              <a:t>adipiscing</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 </a:t>
            </a:r>
            <a:r>
              <a:rPr lang="en-US" sz="1000" b="0" dirty="0" err="1">
                <a:solidFill>
                  <a:srgbClr val="FF0000"/>
                </a:solidFill>
                <a:latin typeface="Source Sans Pro" panose="020B0503030403020204" pitchFamily="34" charset="0"/>
                <a:ea typeface="Source Sans Pro" panose="020B0503030403020204" pitchFamily="34" charset="0"/>
                <a:sym typeface="Source Sans Pro Light"/>
              </a:rPr>
              <a:t>elit</a:t>
            </a:r>
            <a:r>
              <a:rPr lang="en-US" sz="1000" b="0" dirty="0">
                <a:solidFill>
                  <a:srgbClr val="FF0000"/>
                </a:solidFill>
                <a:latin typeface="Source Sans Pro" panose="020B0503030403020204" pitchFamily="34" charset="0"/>
                <a:ea typeface="Source Sans Pro" panose="020B0503030403020204" pitchFamily="34" charset="0"/>
                <a:sym typeface="Source Sans Pro Light"/>
              </a:rPr>
              <a:t>, sed do</a:t>
            </a:r>
            <a:endParaRPr lang="en-US" sz="1000" u="sng" dirty="0">
              <a:solidFill>
                <a:srgbClr val="FF0000"/>
              </a:solidFill>
              <a:latin typeface="Source Sans Pro" panose="020B0503030403020204" pitchFamily="34" charset="0"/>
              <a:ea typeface="Source Sans Pro" panose="020B0503030403020204" pitchFamily="34" charset="0"/>
              <a:hlinkClick r:id="rId4"/>
            </a:endParaRPr>
          </a:p>
        </p:txBody>
      </p:sp>
      <p:pic>
        <p:nvPicPr>
          <p:cNvPr id="1382" name="Graphic 478" descr="Arrow Right outline">
            <a:extLst>
              <a:ext uri="{FF2B5EF4-FFF2-40B4-BE49-F238E27FC236}">
                <a16:creationId xmlns:a16="http://schemas.microsoft.com/office/drawing/2014/main" id="{CB9B9F99-A8B2-E24D-EF83-D0C7736B67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292997" y="6148920"/>
            <a:ext cx="369120" cy="768630"/>
          </a:xfrm>
          <a:prstGeom prst="rect">
            <a:avLst/>
          </a:prstGeom>
        </p:spPr>
      </p:pic>
      <p:sp>
        <p:nvSpPr>
          <p:cNvPr id="1384" name="Rectangle 1383">
            <a:extLst>
              <a:ext uri="{FF2B5EF4-FFF2-40B4-BE49-F238E27FC236}">
                <a16:creationId xmlns:a16="http://schemas.microsoft.com/office/drawing/2014/main" id="{3598CBAC-CC3D-06FB-23CB-F13669E31CC6}"/>
              </a:ext>
            </a:extLst>
          </p:cNvPr>
          <p:cNvSpPr/>
          <p:nvPr/>
        </p:nvSpPr>
        <p:spPr>
          <a:xfrm>
            <a:off x="11917074" y="6288875"/>
            <a:ext cx="1342868" cy="585584"/>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5" name="This template uses several fonts: Helvetica Neue, Menlo, Source Sans pro, which you can acquire for free here,  www.fontsquirrel.com/fonts/source-sans-pro, and Font Awesome, which you can acquire here, fortawesome.github.io/Font-Awesome/get-started/">
            <a:extLst>
              <a:ext uri="{FF2B5EF4-FFF2-40B4-BE49-F238E27FC236}">
                <a16:creationId xmlns:a16="http://schemas.microsoft.com/office/drawing/2014/main" id="{753D7168-A4DC-E931-11ED-1C57959DBF7F}"/>
              </a:ext>
            </a:extLst>
          </p:cNvPr>
          <p:cNvSpPr txBox="1"/>
          <p:nvPr/>
        </p:nvSpPr>
        <p:spPr>
          <a:xfrm>
            <a:off x="12034766" y="6464753"/>
            <a:ext cx="1342868" cy="2487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rgbClr val="000000"/>
                </a:solidFill>
                <a:latin typeface="Source Sans Pro" panose="020B0503030403020204" pitchFamily="34" charset="0"/>
                <a:ea typeface="Source Sans Pro" panose="020B0503030403020204" pitchFamily="34" charset="0"/>
                <a:sym typeface="Source Sans Pro Light"/>
              </a:rPr>
              <a:t>Lorem ipsum dolor</a:t>
            </a:r>
            <a:endParaRPr lang="en-US" sz="1000" u="sng" dirty="0">
              <a:latin typeface="Source Sans Pro" panose="020B0503030403020204" pitchFamily="34" charset="0"/>
              <a:ea typeface="Source Sans Pro" panose="020B0503030403020204" pitchFamily="34" charset="0"/>
              <a:hlinkClick r:id="rId4"/>
            </a:endParaRPr>
          </a:p>
        </p:txBody>
      </p:sp>
      <p:sp>
        <p:nvSpPr>
          <p:cNvPr id="1395" name="Use headers, colors, and/or backgrounds to separate or group together sections.">
            <a:extLst>
              <a:ext uri="{FF2B5EF4-FFF2-40B4-BE49-F238E27FC236}">
                <a16:creationId xmlns:a16="http://schemas.microsoft.com/office/drawing/2014/main" id="{900F9B9B-194E-5CB7-745F-B373FACD646E}"/>
              </a:ext>
            </a:extLst>
          </p:cNvPr>
          <p:cNvSpPr txBox="1"/>
          <p:nvPr/>
        </p:nvSpPr>
        <p:spPr>
          <a:xfrm>
            <a:off x="9529604" y="7102008"/>
            <a:ext cx="3949153" cy="426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Trains a specified model using (manually) labeled sentiment data, and saves the weights to the specified project configuration model path.</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6" name="Use headers, colors, and/or backgrounds to separate or group together sections.">
            <a:extLst>
              <a:ext uri="{FF2B5EF4-FFF2-40B4-BE49-F238E27FC236}">
                <a16:creationId xmlns:a16="http://schemas.microsoft.com/office/drawing/2014/main" id="{3BFD6C15-BB0F-896B-2D0A-3A777038DD2B}"/>
              </a:ext>
            </a:extLst>
          </p:cNvPr>
          <p:cNvSpPr txBox="1"/>
          <p:nvPr/>
        </p:nvSpPr>
        <p:spPr>
          <a:xfrm>
            <a:off x="9684302" y="7803215"/>
            <a:ext cx="1027190" cy="4810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3000" b="0" dirty="0">
                <a:latin typeface="Source Sans Pro" panose="020B0503030403020204" pitchFamily="34" charset="0"/>
                <a:ea typeface="Source Sans Pro" panose="020B0503030403020204" pitchFamily="34" charset="0"/>
                <a:cs typeface="Arial" panose="020B0604020202020204" pitchFamily="34" charset="0"/>
              </a:rPr>
              <a:t>f</a:t>
            </a:r>
            <a:endParaRPr lang="en-US" sz="30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sz="30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7" name="Double Bracket 6">
            <a:extLst>
              <a:ext uri="{FF2B5EF4-FFF2-40B4-BE49-F238E27FC236}">
                <a16:creationId xmlns:a16="http://schemas.microsoft.com/office/drawing/2014/main" id="{8E159693-002A-E7BF-73B1-93E0DDB7B214}"/>
              </a:ext>
            </a:extLst>
          </p:cNvPr>
          <p:cNvSpPr/>
          <p:nvPr/>
        </p:nvSpPr>
        <p:spPr>
          <a:xfrm>
            <a:off x="10076251" y="7766552"/>
            <a:ext cx="616922" cy="616922"/>
          </a:xfrm>
          <a:prstGeom prst="bracketPair">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pic>
        <p:nvPicPr>
          <p:cNvPr id="10" name="table">
            <a:extLst>
              <a:ext uri="{FF2B5EF4-FFF2-40B4-BE49-F238E27FC236}">
                <a16:creationId xmlns:a16="http://schemas.microsoft.com/office/drawing/2014/main" id="{55FEDB9D-8237-7EEB-4C12-B06E681AAFB4}"/>
              </a:ext>
            </a:extLst>
          </p:cNvPr>
          <p:cNvPicPr>
            <a:picLocks noChangeAspect="1"/>
          </p:cNvPicPr>
          <p:nvPr/>
        </p:nvPicPr>
        <p:blipFill>
          <a:blip r:embed="rId11"/>
          <a:stretch>
            <a:fillRect/>
          </a:stretch>
        </p:blipFill>
        <p:spPr>
          <a:xfrm>
            <a:off x="10140581" y="7805676"/>
            <a:ext cx="499150" cy="522089"/>
          </a:xfrm>
          <a:prstGeom prst="rect">
            <a:avLst/>
          </a:prstGeom>
        </p:spPr>
      </p:pic>
      <p:sp>
        <p:nvSpPr>
          <p:cNvPr id="11" name="Equals 10">
            <a:extLst>
              <a:ext uri="{FF2B5EF4-FFF2-40B4-BE49-F238E27FC236}">
                <a16:creationId xmlns:a16="http://schemas.microsoft.com/office/drawing/2014/main" id="{71EF7580-7610-93B1-8B7E-336FDAC9AB7C}"/>
              </a:ext>
            </a:extLst>
          </p:cNvPr>
          <p:cNvSpPr/>
          <p:nvPr/>
        </p:nvSpPr>
        <p:spPr>
          <a:xfrm>
            <a:off x="10876027" y="7783565"/>
            <a:ext cx="590496" cy="590496"/>
          </a:xfrm>
          <a:prstGeom prst="mathEqual">
            <a:avLst/>
          </a:prstGeom>
          <a:solidFill>
            <a:schemeClr val="bg2">
              <a:lumMod val="1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 name="Use headers, colors, and/or backgrounds to separate or group together sections.">
            <a:extLst>
              <a:ext uri="{FF2B5EF4-FFF2-40B4-BE49-F238E27FC236}">
                <a16:creationId xmlns:a16="http://schemas.microsoft.com/office/drawing/2014/main" id="{A61DE4B8-0124-596B-DDEC-285A58FAA4B0}"/>
              </a:ext>
            </a:extLst>
          </p:cNvPr>
          <p:cNvSpPr txBox="1"/>
          <p:nvPr/>
        </p:nvSpPr>
        <p:spPr>
          <a:xfrm>
            <a:off x="11553599" y="7911150"/>
            <a:ext cx="1753501" cy="4832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1800" b="0" dirty="0">
                <a:latin typeface="Source Sans Pro" panose="020B0503030403020204" pitchFamily="34" charset="0"/>
                <a:ea typeface="Source Sans Pro" panose="020B0503030403020204" pitchFamily="34" charset="0"/>
                <a:cs typeface="Arial" panose="020B0604020202020204" pitchFamily="34" charset="0"/>
              </a:rPr>
              <a:t>[w , w , …, w ]</a:t>
            </a:r>
            <a:endParaRPr lang="en-US" sz="1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8" name="Use headers, colors, and/or backgrounds to separate or group together sections.">
            <a:extLst>
              <a:ext uri="{FF2B5EF4-FFF2-40B4-BE49-F238E27FC236}">
                <a16:creationId xmlns:a16="http://schemas.microsoft.com/office/drawing/2014/main" id="{06654A8D-2BF7-4D35-DBA8-5025697F7967}"/>
              </a:ext>
            </a:extLst>
          </p:cNvPr>
          <p:cNvSpPr txBox="1"/>
          <p:nvPr/>
        </p:nvSpPr>
        <p:spPr>
          <a:xfrm>
            <a:off x="11749012" y="8032173"/>
            <a:ext cx="179678" cy="2078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1</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21" name="Use headers, colors, and/or backgrounds to separate or group together sections.">
            <a:extLst>
              <a:ext uri="{FF2B5EF4-FFF2-40B4-BE49-F238E27FC236}">
                <a16:creationId xmlns:a16="http://schemas.microsoft.com/office/drawing/2014/main" id="{40F844FC-4DA1-DA91-5A42-777B30B3A026}"/>
              </a:ext>
            </a:extLst>
          </p:cNvPr>
          <p:cNvSpPr txBox="1"/>
          <p:nvPr/>
        </p:nvSpPr>
        <p:spPr>
          <a:xfrm>
            <a:off x="12081090" y="8032173"/>
            <a:ext cx="179678" cy="2078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2</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22" name="Use headers, colors, and/or backgrounds to separate or group together sections.">
            <a:extLst>
              <a:ext uri="{FF2B5EF4-FFF2-40B4-BE49-F238E27FC236}">
                <a16:creationId xmlns:a16="http://schemas.microsoft.com/office/drawing/2014/main" id="{3881EF4D-D8A0-345C-1D63-64312BD2F08C}"/>
              </a:ext>
            </a:extLst>
          </p:cNvPr>
          <p:cNvSpPr txBox="1"/>
          <p:nvPr/>
        </p:nvSpPr>
        <p:spPr>
          <a:xfrm>
            <a:off x="12717666" y="8021203"/>
            <a:ext cx="179678" cy="2078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n</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27" name="Use headers, colors, and/or backgrounds to separate or group together sections.">
            <a:extLst>
              <a:ext uri="{FF2B5EF4-FFF2-40B4-BE49-F238E27FC236}">
                <a16:creationId xmlns:a16="http://schemas.microsoft.com/office/drawing/2014/main" id="{CFF211BE-B647-7FA7-165B-4A49700CB9CF}"/>
              </a:ext>
            </a:extLst>
          </p:cNvPr>
          <p:cNvSpPr txBox="1"/>
          <p:nvPr/>
        </p:nvSpPr>
        <p:spPr>
          <a:xfrm>
            <a:off x="10804366" y="9400442"/>
            <a:ext cx="1753501" cy="4832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[w , w , …, w ]</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32" name="Use headers, colors, and/or backgrounds to separate or group together sections.">
            <a:extLst>
              <a:ext uri="{FF2B5EF4-FFF2-40B4-BE49-F238E27FC236}">
                <a16:creationId xmlns:a16="http://schemas.microsoft.com/office/drawing/2014/main" id="{91B66762-2567-7698-7714-52D7A0D2242B}"/>
              </a:ext>
            </a:extLst>
          </p:cNvPr>
          <p:cNvSpPr txBox="1"/>
          <p:nvPr/>
        </p:nvSpPr>
        <p:spPr>
          <a:xfrm>
            <a:off x="10938008" y="9497402"/>
            <a:ext cx="179678" cy="2078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Source Sans Pro" panose="020B0503030403020204" pitchFamily="34" charset="0"/>
                <a:ea typeface="Source Sans Pro" panose="020B0503030403020204" pitchFamily="34" charset="0"/>
                <a:cs typeface="Arial" panose="020B0604020202020204" pitchFamily="34" charset="0"/>
              </a:rPr>
              <a:t>1</a:t>
            </a:r>
            <a:endParaRPr lang="en-US" sz="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35" name="Use headers, colors, and/or backgrounds to separate or group together sections.">
            <a:extLst>
              <a:ext uri="{FF2B5EF4-FFF2-40B4-BE49-F238E27FC236}">
                <a16:creationId xmlns:a16="http://schemas.microsoft.com/office/drawing/2014/main" id="{F8A7BEC1-72BE-285D-35FA-88FFC23DCE77}"/>
              </a:ext>
            </a:extLst>
          </p:cNvPr>
          <p:cNvSpPr txBox="1"/>
          <p:nvPr/>
        </p:nvSpPr>
        <p:spPr>
          <a:xfrm>
            <a:off x="11144683" y="9496487"/>
            <a:ext cx="179678" cy="2078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Source Sans Pro" panose="020B0503030403020204" pitchFamily="34" charset="0"/>
                <a:ea typeface="Source Sans Pro" panose="020B0503030403020204" pitchFamily="34" charset="0"/>
                <a:cs typeface="Arial" panose="020B0604020202020204" pitchFamily="34" charset="0"/>
              </a:rPr>
              <a:t>2</a:t>
            </a:r>
            <a:endParaRPr lang="en-US" sz="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37" name="Use headers, colors, and/or backgrounds to separate or group together sections.">
            <a:extLst>
              <a:ext uri="{FF2B5EF4-FFF2-40B4-BE49-F238E27FC236}">
                <a16:creationId xmlns:a16="http://schemas.microsoft.com/office/drawing/2014/main" id="{50B1C9D5-B787-46B3-0E24-9ABFC361A342}"/>
              </a:ext>
            </a:extLst>
          </p:cNvPr>
          <p:cNvSpPr txBox="1"/>
          <p:nvPr/>
        </p:nvSpPr>
        <p:spPr>
          <a:xfrm>
            <a:off x="11571621" y="9496487"/>
            <a:ext cx="179678" cy="2078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oAutofit/>
          </a:bodyPr>
          <a:lstStyle/>
          <a:p>
            <a:pPr>
              <a:lnSpc>
                <a:spcPct val="90000"/>
              </a:lnSpc>
              <a:buSzPts val="3700"/>
            </a:pPr>
            <a:r>
              <a:rPr lang="en-US" sz="800" b="0" dirty="0">
                <a:latin typeface="Source Sans Pro" panose="020B0503030403020204" pitchFamily="34" charset="0"/>
                <a:ea typeface="Source Sans Pro" panose="020B0503030403020204" pitchFamily="34" charset="0"/>
                <a:cs typeface="Arial" panose="020B0604020202020204" pitchFamily="34" charset="0"/>
              </a:rPr>
              <a:t>n</a:t>
            </a:r>
            <a:endParaRPr lang="en-US" sz="800"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4"/>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4" name="Use headers, colors, and/or backgrounds to separate or group together sections.">
            <a:extLst>
              <a:ext uri="{FF2B5EF4-FFF2-40B4-BE49-F238E27FC236}">
                <a16:creationId xmlns:a16="http://schemas.microsoft.com/office/drawing/2014/main" id="{C192BD37-A903-2B47-DE59-4A81AB5E33F0}"/>
              </a:ext>
            </a:extLst>
          </p:cNvPr>
          <p:cNvSpPr txBox="1"/>
          <p:nvPr/>
        </p:nvSpPr>
        <p:spPr>
          <a:xfrm>
            <a:off x="203866" y="8449555"/>
            <a:ext cx="4369511"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lvl="0">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You should also specify the required external tools in </a:t>
            </a:r>
            <a:r>
              <a:rPr lang="en-US" b="0" dirty="0" err="1">
                <a:latin typeface="Source Sans Pro" panose="020B0503030403020204" pitchFamily="34" charset="0"/>
                <a:ea typeface="Source Sans Pro" panose="020B0503030403020204" pitchFamily="34" charset="0"/>
                <a:cs typeface="Arial" panose="020B0604020202020204" pitchFamily="34" charset="0"/>
              </a:rPr>
              <a:t>tools.yml</a:t>
            </a:r>
            <a:r>
              <a:rPr lang="en-US" b="0" dirty="0">
                <a:latin typeface="Source Sans Pro" panose="020B0503030403020204" pitchFamily="34" charset="0"/>
                <a:ea typeface="Source Sans Pro" panose="020B0503030403020204" pitchFamily="34" charset="0"/>
                <a:cs typeface="Arial" panose="020B0604020202020204" pitchFamily="34" charset="0"/>
              </a:rPr>
              <a:t>:</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Tree>
    <p:extLst>
      <p:ext uri="{BB962C8B-B14F-4D97-AF65-F5344CB8AC3E}">
        <p14:creationId xmlns:p14="http://schemas.microsoft.com/office/powerpoint/2010/main" val="1308751145"/>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4831</TotalTime>
  <Words>817</Words>
  <Application>Microsoft Office PowerPoint</Application>
  <PresentationFormat>Custom</PresentationFormat>
  <Paragraphs>98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Avenir</vt:lpstr>
      <vt:lpstr>Helvetica Light</vt:lpstr>
      <vt:lpstr>Source Sans Pro</vt:lpstr>
      <vt:lpstr>Source Sans Pro Light</vt:lpstr>
      <vt:lpstr>Source Sans Pro Semibold</vt:lpstr>
      <vt:lpstr>White</vt:lpstr>
      <vt:lpstr>Sentiment Analysis: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 </dc:title>
  <cp:lastModifiedBy>gerald huff</cp:lastModifiedBy>
  <cp:revision>100</cp:revision>
  <dcterms:modified xsi:type="dcterms:W3CDTF">2025-12-11T03:39:42Z</dcterms:modified>
</cp:coreProperties>
</file>